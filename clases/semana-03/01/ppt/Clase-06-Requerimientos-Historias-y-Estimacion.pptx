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Guía Scrum · Product Backlog: https://scrumguides.org/scrum-guide.html#product-backlog
Barn Images · Unsplash · https://unsplash.com/photos/t5YUoHW6zRo · Licencia 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Vijesh Vijayan · Pexels · https://www.pexels.com/photo/19756443/ · Licencia Pexels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IREB · Glosario CPRE: https://cpre.ireb.org/en/downloads-and-resources/glossary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IREB · Glosario CPRE: https://cpre.ireb.org/en/downloads-and-resources/glossary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Agile Alliance · Historias de usuario: https://agilealliance.org/glossary/user-stories/
Agile Alliance · Tarjeta, conversación y confirmación: https://agilealliance.org/glossary/three-cs/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Agile Alliance · Dado / Cuando / Entonces: https://agilealliance.org/glossary/given-when-then/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Agile Alliance · Dado / Cuando / Entonces: https://agilealliance.org/glossary/given-when-then/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Mountain Goat Software · División de historias: https://www.mountaingoatsoftware.com/agile/user-stories/story-splitting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Mountain Goat Software · División de historias: https://www.mountaingoatsoftware.com/agile/user-stories/story-splitting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Mountain Goat Software · Puntos de historia: https://www.mountaingoatsoftware.com/agile/story-points
Guía Scrum · Product Backlog: https://scrumguides.org/scrum-guide.html#product-backlog
Vitaly Gariev · Unsplash · https://unsplash.com/photos/TSyD0nGc0Bs · Licencia 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Mountain Goat Software · Estimación relativa: https://www.mountaingoatsoftware.com/agile/story-points/introducing-story-points-to-a-team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Mountain Goat Software · Puntos de historia: https://www.mountaingoatsoftware.com/agile/story-points
Mountain Goat Software · Estimación relativa: https://www.mountaingoatsoftware.com/agile/story-points/introducing-story-points-to-a-team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Mountain Goat Software · Planning Poker: https://www.mountaingoatsoftware.com/agile/story-points/planning-poker
Mountain Goat Software · Diferencias de estimación: https://www.mountaingoatsoftware.com/agile/dont-average-during-planning-poker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Mountain Goat Software · Diferencias de estimación: https://www.mountaingoatsoftware.com/agile/dont-average-during-planning-poker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Mountain Goat Software · Planning Poker: https://www.mountaingoatsoftware.com/agile/story-points/planning-poker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Mountain Goat Software · Prioridad del backlog: https://www.mountaingoatsoftware.com/agile/product-backlog/how-to-prioritize-a-product-backlog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Las condiciones, cifras y estimaciones del ejemplo son didácticas; no constituyen datos de una organización ni acuerdos del equipo.
Guía Scrum · Product Backlog: https://scrumguides.org/scrum-guide.html#product-backlog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Guía Scrum · Product Backlog: https://scrumguides.org/scrum-guide.html#product-backlog
Jakub Żerdzicki · Unsplash · https://unsplash.com/photos/fQOyF0D0cDU · Licencia 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pedagógica: README de Clase 06, semana 03. Ejemplo conductor del módulo: ferretería de Osorno.
Guía Scrum · Product Backlog: https://scrumguides.org/scrum-guide.html#product-backlog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GUÍA DE REPASO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2" y="366156"/>
            <a:ext cx="1600200" cy="556993"/>
          </a:xfrm>
          <a:prstGeom prst="rect">
            <a:avLst/>
          </a:prstGeom>
        </p:spPr>
      </p:pic>
      <p:pic>
        <p:nvPicPr>
          <p:cNvPr id="5" name="Image 1" descr="C:\Users\Diego Obando\dev\tpe401-taller-de-proyecto-de-especialidad\clases\semana-03\01\ppt\source\assets\herramientas.jpg">    </p:cNvPr>
          <p:cNvPicPr>
            <a:picLocks noChangeAspect="1"/>
          </p:cNvPicPr>
          <p:nvPr/>
        </p:nvPicPr>
        <p:blipFill>
          <a:blip r:embed="rId2"/>
          <a:srcRect l="15879" r="15879" t="0" b="0"/>
          <a:stretch/>
        </p:blipFill>
        <p:spPr>
          <a:xfrm>
            <a:off x="7132320" y="1143000"/>
            <a:ext cx="4416552" cy="43159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132320" y="5001768"/>
            <a:ext cx="4416552" cy="45720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0" y="5102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ficticio: pedidos de una ferretería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261872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Requerimientos,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historias 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estimación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640080" y="3657600"/>
            <a:ext cx="5806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organiza el trabajo en ciclos cortos para revisar resultados y ajustar lo siguiente.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40080" y="51023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PRECISAR  →  ESCRIBIR  →  ESTIMAR  →  ORDENAR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el ejemplo resuelto y úsalo como referencia para tu proyecto.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Scrum · Product Backlog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COMENZAR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caso ficticio para seguir toda la guía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10512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ferretería de Osorno es inventada: sirve de ejemplo para practicar el procedimiento.</a:t>
            </a:r>
            <a:endParaRPr lang="en-US" sz="2300" dirty="0"/>
          </a:p>
        </p:txBody>
      </p:sp>
      <p:pic>
        <p:nvPicPr>
          <p:cNvPr id="7" name="Image 1" descr="C:\Users\Diego Obando\dev\tpe401-taller-de-proyecto-de-especialidad\clases\semana-03\01\ppt\source\assets\ferreteria.jpg">    </p:cNvPr>
          <p:cNvPicPr>
            <a:picLocks noChangeAspect="1"/>
          </p:cNvPicPr>
          <p:nvPr/>
        </p:nvPicPr>
        <p:blipFill>
          <a:blip r:embed="rId3"/>
          <a:srcRect l="0" r="0" t="4257" b="4257"/>
          <a:stretch/>
        </p:blipFill>
        <p:spPr>
          <a:xfrm>
            <a:off x="640080" y="2688336"/>
            <a:ext cx="3840480" cy="23408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1389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ilustrativa; no corresponde a una ferretería de Osorno.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Vijesh Vijayan / Pexels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956048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74536" y="2734056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pedidos llegan por WhatsApp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se anotan en un cuaderno.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4956048" y="3520440"/>
            <a:ext cx="6592824" cy="0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56048" y="37398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574536" y="3685032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Cuesta encontrar los pedidos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responder por su estado.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4956048" y="4471416"/>
            <a:ext cx="6592824" cy="0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56048" y="4690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574536" y="4636008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del mesón usa el sistema.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compra y consulta.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números, reglas y puntos son del ejemplo. Tu equipo aplica el procedimiento a su proyecto asignado.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ficticio · Ferretería de Osorno · Cifras y reglas propuestas para el ejemplo</a:t>
            </a:r>
            <a:endParaRPr lang="en-US" sz="930" dirty="0"/>
          </a:p>
        </p:txBody>
      </p:sp>
      <p:sp>
        <p:nvSpPr>
          <p:cNvPr id="20" name="Text 16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REQUERIMIENTOS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necesidad orienta la función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4114800" cy="2331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39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DEL CLIENTE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7157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«¿Mi pedido está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 para retiro?»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SIGNIFICA «LISTO PARA RETIRO»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492861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productos del pedido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están preparados.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30368" y="18928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· QUÉ SE BUSCA CONSEGUIR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30368" y="2286000"/>
            <a:ext cx="5897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Encontrar el pedido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conocer su estado.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5394960" y="3465576"/>
            <a:ext cx="0" cy="411480"/>
          </a:xfrm>
          <a:prstGeom prst="line">
            <a:avLst/>
          </a:prstGeom>
          <a:noFill/>
          <a:ln w="254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5230368" y="415137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PROPUESTA PARA RESOLVERLO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230368" y="4553712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por número y mostrar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actual.</a:t>
            </a:r>
            <a:endParaRPr lang="en-US" sz="2700" dirty="0"/>
          </a:p>
        </p:txBody>
      </p:sp>
      <p:sp>
        <p:nvSpPr>
          <p:cNvPr id="16" name="Shape 13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requerimiento es una capacidad o condición que el sistema debe cumplir. Esta función es un ejemplo.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IREB · Glosario CPRE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REQUERIMIENTOS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Función, calidad y regla de negocio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063240"/>
                <a:gridCol w="588233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Qué se precisa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Qué significa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Ejemplo propuesto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Funcional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 que el sistema debe hacer.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Buscar un pedido por número y mostrar su estado.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funcional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Una condición de calidad o restricción.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Mostrar el resultado en 2 segundos como máximo, con 1.000 pedidos guardados y una persona consultando.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Regla de negocio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 válido en la operación.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Entregar solo pedidos listos para retiro.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3309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tiempo se mide desde pulsar «Buscar» hasta ver el resultado. La prueba registra el equipo y la red usados.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origina una función: impedir marcar como entregado un pedido que aún no esté listo.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IREB · Glosario CPRE</a:t>
            </a:r>
            <a:endParaRPr lang="en-US" sz="930" dirty="0"/>
          </a:p>
        </p:txBody>
      </p:sp>
      <p:sp>
        <p:nvSpPr>
          <p:cNvPr id="11" name="Text 7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PRECISIÓN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comportamiento que se puede comprobar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DEMASIADO AMPLIO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2295144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«Gestionar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pedidos»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¿Registrar, buscar, preparar, entregar o informar?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361688" y="2999232"/>
            <a:ext cx="548640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175504" y="1810512"/>
            <a:ext cx="6373368" cy="3767328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75504" y="1810512"/>
            <a:ext cx="637336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21808" y="193852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68112" y="193852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14416" y="193852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1911096"/>
            <a:ext cx="5458968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94767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ferreteria.local/pedidos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5404104" y="2450592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pedido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5404104" y="2999232"/>
            <a:ext cx="5916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DE PEDIDO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04104" y="3383280"/>
            <a:ext cx="463600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41264" y="3465576"/>
            <a:ext cx="4361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222992" y="3383280"/>
            <a:ext cx="1069848" cy="50292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04104" y="4169664"/>
            <a:ext cx="5916168" cy="0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04104" y="4416552"/>
            <a:ext cx="5916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1042 · Listo para retiro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5404104" y="4992624"/>
            <a:ext cx="5916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 identifica el pedido; no es una cantidad.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tu proyecto, identifica cada supuesto: una decisión provisional que aún necesita confirmación.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ficticio · Ferretería de Osorno · Cifras y reglas propuestas para el ejemplo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HISTORIAS DE USUARIO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+ capacidad + valor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historia de usuario describe una capacidad desde la perspectiva de quien la necesita.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578608"/>
            <a:ext cx="315468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8895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que atiende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mesón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" y="4965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lo necesita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93192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4434840" y="2578608"/>
            <a:ext cx="315468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28895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34840" y="33832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un pedido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su número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434840" y="4965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quiere hacer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72668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3100" dirty="0"/>
          </a:p>
        </p:txBody>
      </p:sp>
      <p:sp>
        <p:nvSpPr>
          <p:cNvPr id="17" name="Shape 14"/>
          <p:cNvSpPr/>
          <p:nvPr/>
        </p:nvSpPr>
        <p:spPr>
          <a:xfrm>
            <a:off x="8229600" y="2578608"/>
            <a:ext cx="3319272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2889504"/>
            <a:ext cx="3319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0" y="3383280"/>
            <a:ext cx="3319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Informar al cliente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su estado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29600" y="4965192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beneficio obtiene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incluye la frase, los detalles conversados y los criterios para comprobar el resultado.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Alliance · Historias de usuario · Agile Alliance · Tarjeta, conversación y confirmación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COMPROBAR LA HISTORIA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de aceptación: qué debe ocurrir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013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 observables que debe cumplir la consulta de un pedido: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26243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EXISTENTE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344728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401568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640080" y="4005072"/>
            <a:ext cx="3447288" cy="1399032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24528"/>
            <a:ext cx="3081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1042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47823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 para retiro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361688" y="26243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INEXISTENTE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1688" y="3108960"/>
            <a:ext cx="344728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9999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123176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4361688" y="4005072"/>
            <a:ext cx="3447288" cy="1399032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44568" y="4224528"/>
            <a:ext cx="3081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no encontrado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44568" y="47823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el número ingresado.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083296" y="26243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VACÍO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83296" y="3108960"/>
            <a:ext cx="344728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47888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0844784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5" name="Shape 22"/>
          <p:cNvSpPr/>
          <p:nvPr/>
        </p:nvSpPr>
        <p:spPr>
          <a:xfrm>
            <a:off x="8083296" y="4005072"/>
            <a:ext cx="3447288" cy="139903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4224528"/>
            <a:ext cx="3081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 un número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66176" y="47823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solicita antes de buscar.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 existe en este ejemplo; 9999 no está registrado. Campo vacío significa no escribir nada.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Alliance · Dado / Cuando / Entonces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ESCRIBIR UN ESCENARIO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 / Cuando / Entonces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962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3401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inicial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3291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el pedido 1042,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 para retiro.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1444752" y="2423160"/>
            <a:ext cx="2532888" cy="0"/>
          </a:xfrm>
          <a:prstGeom prst="line">
            <a:avLst/>
          </a:prstGeom>
          <a:noFill/>
          <a:ln w="22860">
            <a:solidFill>
              <a:srgbClr val="D8CFC4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389120" y="2148840"/>
            <a:ext cx="548640" cy="548640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389120" y="2962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389120" y="3401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389120" y="4160520"/>
            <a:ext cx="3291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del mesón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el número 1042.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5193792" y="2423160"/>
            <a:ext cx="2532888" cy="0"/>
          </a:xfrm>
          <a:prstGeom prst="line">
            <a:avLst/>
          </a:prstGeom>
          <a:noFill/>
          <a:ln w="22860">
            <a:solidFill>
              <a:srgbClr val="D8CFC4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8138160" y="2148840"/>
            <a:ext cx="548640" cy="548640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138160" y="2962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ENTONCES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38160" y="3401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138160" y="4160520"/>
            <a:ext cx="3291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muestran el número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 y el estado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«Listo para retiro».</a:t>
            </a:r>
            <a:endParaRPr lang="en-US" sz="2300" dirty="0"/>
          </a:p>
        </p:txBody>
      </p:sp>
      <p:sp>
        <p:nvSpPr>
          <p:cNvPr id="20" name="Shape 17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forma de redactar un caso: qué existe al inicio, qué hace la persona y qué resultado debe ver.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Alliance · Dado / Cuando / Entonces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HISTORIA Y TAREAS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historia se implementa con tareas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40080" y="1901952"/>
            <a:ext cx="3785616" cy="3611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762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PARA EL USUARIO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el pedido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responder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cliente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754880" y="2542032"/>
            <a:ext cx="0" cy="2386584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25696" y="3657600"/>
            <a:ext cx="329184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754880" y="2523744"/>
            <a:ext cx="429768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449824" y="2267712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449824" y="2715768"/>
            <a:ext cx="5989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la búsqueda.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754880" y="3593592"/>
            <a:ext cx="429768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449824" y="333756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5449824" y="3785616"/>
            <a:ext cx="5989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Capturar número y mostrar resultado.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754880" y="4663440"/>
            <a:ext cx="429768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449824" y="440740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pruebas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5449824" y="4855464"/>
            <a:ext cx="5989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Unir pantalla y datos; probar los tres casos.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tarea terminada no demuestra que la capacidad integrada cumpla sus criterios.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División de historias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HISTORIAS PEQUEÑAS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Dividir por capacidades útiles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1051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«Gestionar pedidos» puede separarse así: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2633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35935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productos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cantidades.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3383280" cy="265176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Pantalla: interacción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4800600"/>
            <a:ext cx="3383280" cy="265176"/>
          </a:xfrm>
          <a:prstGeom prst="rect">
            <a:avLst/>
          </a:prstGeom>
          <a:solidFill>
            <a:srgbClr val="EADF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Lógica: reglas y procesos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3383280" cy="265176"/>
          </a:xfrm>
          <a:prstGeom prst="rect">
            <a:avLst/>
          </a:prstGeom>
          <a:solidFill>
            <a:srgbClr val="EDE6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Datos: guardar y consultar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361688" y="2633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pedido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361688" y="35935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por número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mostrar el estado.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361688" y="4480560"/>
            <a:ext cx="3383280" cy="265176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Pantalla: interacción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361688" y="4800600"/>
            <a:ext cx="3383280" cy="265176"/>
          </a:xfrm>
          <a:prstGeom prst="rect">
            <a:avLst/>
          </a:prstGeom>
          <a:solidFill>
            <a:srgbClr val="EADF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Lógica: reglas y procesos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361688" y="5120640"/>
            <a:ext cx="3383280" cy="265176"/>
          </a:xfrm>
          <a:prstGeom prst="rect">
            <a:avLst/>
          </a:prstGeom>
          <a:solidFill>
            <a:srgbClr val="EDE6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Datos: guardar y consultar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83296" y="2633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listo para retiro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083296" y="35935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estado de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preparado.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083296" y="4480560"/>
            <a:ext cx="3383280" cy="265176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Pantalla: interacción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83296" y="4800600"/>
            <a:ext cx="3383280" cy="265176"/>
          </a:xfrm>
          <a:prstGeom prst="rect">
            <a:avLst/>
          </a:prstGeom>
          <a:solidFill>
            <a:srgbClr val="EADF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Lógica: reglas y procesos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83296" y="5120640"/>
            <a:ext cx="3383280" cy="265176"/>
          </a:xfrm>
          <a:prstGeom prst="rect">
            <a:avLst/>
          </a:prstGeom>
          <a:solidFill>
            <a:srgbClr val="EDE6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Datos: guardar y consultar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historia puede necesitar pantalla, lógica y datos. Marcar listo no incluye un aviso automático.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División de historias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ESTIMACIÓN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2" y="366156"/>
            <a:ext cx="1600200" cy="556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Estimar todo el trabajo necesario</a:t>
            </a:r>
            <a:endParaRPr lang="en-US" sz="3100" dirty="0"/>
          </a:p>
        </p:txBody>
      </p:sp>
      <p:pic>
        <p:nvPicPr>
          <p:cNvPr id="6" name="Image 1" descr="C:\Users\Diego Obando\dev\tpe401-taller-de-proyecto-de-especialidad\clases\semana-03\01\ppt\source\assets\equipo.jpg">    </p:cNvPr>
          <p:cNvPicPr>
            <a:picLocks noChangeAspect="1"/>
          </p:cNvPicPr>
          <p:nvPr/>
        </p:nvPicPr>
        <p:blipFill>
          <a:blip r:embed="rId2"/>
          <a:srcRect l="4839" r="4839" t="0" b="0"/>
          <a:stretch/>
        </p:blipFill>
        <p:spPr>
          <a:xfrm>
            <a:off x="640080" y="1847088"/>
            <a:ext cx="5138928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212080"/>
            <a:ext cx="5138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el esfuerzo de completar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y sus criterios.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45352" y="1947672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de trabajo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245352" y="2514600"/>
            <a:ext cx="5166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Implementar, integrar y probar.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245352" y="3172968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Complejidad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6245352" y="3739896"/>
            <a:ext cx="5166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de reglas y relaciones.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245352" y="4398264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Incertidumbre y riesgo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245352" y="4965192"/>
            <a:ext cx="5166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desconocido que puede aumentar el esfuerzo.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Estiman quienes harán el trabajo. Puntos y Planning Poker son técnicas opcionales en Scrum.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Puntos de historia · Guía Scrum · Product Backlog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COMPARAR TAMAÑOS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Puntos relativos y una referencia común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1051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puntos comparan el esfuerzo entre historias del mismo equipo. Primero se elige una historia clara y se acuerda su puntaje como referencia.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69264" y="2770632"/>
            <a:ext cx="1618488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862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9264" y="3191256"/>
            <a:ext cx="1618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77824" y="5001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182112" y="2770632"/>
            <a:ext cx="1618488" cy="2084832"/>
          </a:xfrm>
          <a:prstGeom prst="roundRect">
            <a:avLst/>
          </a:prstGeom>
          <a:solidFill>
            <a:srgbClr val="102A43"/>
          </a:solidFill>
          <a:ln w="254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2862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82112" y="3191256"/>
            <a:ext cx="1618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3090672" y="5001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394960" y="2770632"/>
            <a:ext cx="1618488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22976" y="2862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3191256"/>
            <a:ext cx="1618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5303520" y="5001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607808" y="2770632"/>
            <a:ext cx="1618488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35824" y="2862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07808" y="3191256"/>
            <a:ext cx="1618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400" dirty="0"/>
          </a:p>
        </p:txBody>
      </p:sp>
      <p:sp>
        <p:nvSpPr>
          <p:cNvPr id="22" name="Text 19"/>
          <p:cNvSpPr/>
          <p:nvPr/>
        </p:nvSpPr>
        <p:spPr>
          <a:xfrm>
            <a:off x="7516368" y="5001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9820656" y="2770632"/>
            <a:ext cx="1618488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48672" y="2862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820656" y="3191256"/>
            <a:ext cx="1618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5400" dirty="0"/>
          </a:p>
        </p:txBody>
      </p:sp>
      <p:sp>
        <p:nvSpPr>
          <p:cNvPr id="26" name="Text 23"/>
          <p:cNvSpPr/>
          <p:nvPr/>
        </p:nvSpPr>
        <p:spPr>
          <a:xfrm>
            <a:off x="9729216" y="500176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40080" y="545896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escala, un número mayor representa más esfuerzo estimado. Los valores son aproximaciones.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del ejemplo: consultar un pedido, 2 puntos, con los casos existente, inexistente y vacío.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Estimación relativa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COMPARACIÓN RAZONADA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número necesita una razón</a:t>
            </a:r>
            <a:endParaRPr lang="en-US" sz="3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615665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Historia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Puntos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Razón ilustrativa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Consultar por número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Referencia: búsqueda, resultado y alternativas.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Marcar listo para retiro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Guardar el nuevo estado y comprobar que el pedido está preparado.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Registrar pedido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Entradas, validaciones y guardado de datos relacionados.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34924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puntos no son 5 horas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4754880" y="53583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alcance y lo ya construido cambian la comparación.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orden de trabajo se decide por separado. Los puntos no comparan productividad entre equipos.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Puntos de historia · Mountain Goat Software · Estimación relativa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ESTIMAR EN EQUIPO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 Poker: seis pasos en orden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877824" y="2194560"/>
            <a:ext cx="0" cy="3044952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74520"/>
            <a:ext cx="475488" cy="475488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99032" y="19019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Aclarar la historia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681728" y="1901952"/>
            <a:ext cx="6839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su propósito, criterios y supuestos.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475488" cy="475488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99032" y="2514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681728" y="2514600"/>
            <a:ext cx="6839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la historia de referencia de 2 puntos.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3099816"/>
            <a:ext cx="475488" cy="475488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99032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en privado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681728" y="3127248"/>
            <a:ext cx="6839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persona elige 1, 2, 3, 5 u 8 sin mostrarlo.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3712464"/>
            <a:ext cx="475488" cy="475488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399032" y="37398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a la vez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681728" y="3739896"/>
            <a:ext cx="6839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revelan su número al mismo tiempo.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4325112"/>
            <a:ext cx="475488" cy="475488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399032" y="43525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diferencias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681728" y="4352544"/>
            <a:ext cx="6839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Quienes votaron más alto y más bajo explican por qué.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0080" y="4937760"/>
            <a:ext cx="475488" cy="475488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399032" y="49651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Volver a estimar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681728" y="4965192"/>
            <a:ext cx="6839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el puntaje acordado o lo que falta aclarar.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hacerse con papel. El puntaje se acuerda tras discutir; no se obtiene promediando los votos.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Planning Poker · Mountain Goat Software · Diferencias de estimación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VOTOS Y ACUERDO FICTICIOS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ronda antes de acordar el puntaje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1051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Historia: marcar listo para retiro un pedido ya preparado.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2670048"/>
            <a:ext cx="108813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090672"/>
            <a:ext cx="10881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96596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de estado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444398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Considera cambiar el estado del pedido.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89120" y="2670048"/>
            <a:ext cx="108813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7136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3090672"/>
            <a:ext cx="10881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7150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 pruebas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389120" y="444398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comprobar que todos los productos estén preparados.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8160" y="2670048"/>
            <a:ext cx="108813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66176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38160" y="3090672"/>
            <a:ext cx="10881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946404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añadidas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138160" y="444398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Supone seguimiento por producto y aviso automático.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excluyen el aviso y el seguimiento por producto. Tras otra votación, el equipo del ejemplo acuerda 3 puntos.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Diferencias de estimación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SITUACIONES POSIBLES AL ESTIMAR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hacer cuando falta información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40080" y="2002536"/>
            <a:ext cx="128016" cy="393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07592" y="18562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capacidades juntas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87568" y="2112264"/>
            <a:ext cx="585216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6601968" y="1856232"/>
            <a:ext cx="4892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con resultados útiles.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307592" y="2642616"/>
            <a:ext cx="10213848" cy="0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916936"/>
            <a:ext cx="128016" cy="393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07592" y="27706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poco claros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687568" y="3026664"/>
            <a:ext cx="585216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601968" y="2770632"/>
            <a:ext cx="4892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Precisar casos y resultados.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307592" y="3557016"/>
            <a:ext cx="10213848" cy="0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3831336"/>
            <a:ext cx="128016" cy="393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07592" y="36850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sabe si es posible construirlo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687568" y="3941064"/>
            <a:ext cx="585216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6601968" y="3685032"/>
            <a:ext cx="4892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o hacer una prueba pequeña.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307592" y="4471416"/>
            <a:ext cx="10213848" cy="0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4745736"/>
            <a:ext cx="128016" cy="393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07592" y="45994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una regla decisiva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687568" y="4855464"/>
            <a:ext cx="585216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6601968" y="4599432"/>
            <a:ext cx="4892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Anotar la duda y dejar el puntaje pendiente.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 significa que aún no hay un puntaje acordado: se registra qué falta aclarar para estimar.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Planning Poker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ORDENAR EL TRABAJO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Prioridad y tamaño responden cosas distintas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653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 · QUÉ ABORDAR ANTES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393192" cy="393192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16736" y="2441448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93192" cy="393192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16736" y="3081528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pedido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393192" cy="393192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16736" y="3721608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listo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40080" y="46817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Beneficio, urgencia, trabajo previo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necesario y dudas por resolver.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715000" y="1920240"/>
            <a:ext cx="0" cy="3557016"/>
          </a:xfrm>
          <a:prstGeom prst="line">
            <a:avLst/>
          </a:prstGeom>
          <a:noFill/>
          <a:ln w="1397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8653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TAMAÑO · CUÁNTO ESFUERZO RELATIVO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7920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302752" y="2478024"/>
            <a:ext cx="2377440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0879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62179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302752" y="3118104"/>
            <a:ext cx="950976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0879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621792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listo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302752" y="3758184"/>
            <a:ext cx="1426464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0879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6217920" y="468172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didácticos, comparados con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misma historia de referencia.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puede ir antes aunque tenga más puntos: aporta los datos que después se consultan.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Mountain Goat Software · Prioridad del backlog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TRABAJO ORDENADO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backlog inicial de la ferretería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8105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Backlog: lista ordenada del trabajo para mejorar el producto. Cambia al aprender más del proyecto.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34056"/>
          <a:ext cx="1091153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  <a:gridCol w="1280160"/>
                <a:gridCol w="542513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Orden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Historia abreviada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Puntos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Motivo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Registrar pedido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Conservar lo solicitado.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Consultar por número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Encontrar el pedido y ver su estado.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Marcar listo para retiro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43B5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Registrar que está preparado.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37160" marR="137160" marT="91440" marB="91440" anchor="ctr">
                    <a:lnL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367528"/>
            <a:ext cx="109115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probar la consulta con pedidos ficticios antes de construir el registro.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 Owner ordena la lista según el valor del producto. Quienes desarrollan estiman el esfuerzo.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Scrum · Product Backlog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REFINAMIENTO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65904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Refinar es comprender mejor el trabajo</a:t>
            </a:r>
            <a:endParaRPr lang="en-US" sz="3100" dirty="0"/>
          </a:p>
        </p:txBody>
      </p:sp>
      <p:pic>
        <p:nvPicPr>
          <p:cNvPr id="6" name="Image 1" descr="C:\Users\Diego Obando\dev\tpe401-taller-de-proyecto-de-especialidad\clases\semana-03\01\ppt\source\assets\notas.jpg">    </p:cNvPr>
          <p:cNvPicPr>
            <a:picLocks noChangeAspect="1"/>
          </p:cNvPicPr>
          <p:nvPr/>
        </p:nvPicPr>
        <p:blipFill>
          <a:blip r:embed="rId3"/>
          <a:srcRect l="18555" r="18555" t="0" b="0"/>
          <a:stretch/>
        </p:blipFill>
        <p:spPr>
          <a:xfrm>
            <a:off x="8065008" y="1837944"/>
            <a:ext cx="3483864" cy="3694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901952"/>
            <a:ext cx="402336" cy="402336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371600" y="1856232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371600" y="2340864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lo necesita y para qué.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0080" y="2825496"/>
            <a:ext cx="402336" cy="402336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371600" y="2779776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Comprobación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1371600" y="326440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resultado debe observarse.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080" y="3749040"/>
            <a:ext cx="402336" cy="402336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371600" y="3703320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1371600" y="4187952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incluye, qué deja fuera y qué se supone.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0080" y="4672584"/>
            <a:ext cx="402336" cy="402336"/>
          </a:xfrm>
          <a:prstGeom prst="ellipse">
            <a:avLst/>
          </a:prstGeom>
          <a:solidFill>
            <a:srgbClr val="D62027"/>
          </a:solidFill>
          <a:ln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371600" y="4626864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Tamaño y dependencias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1371600" y="5111496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Esfuerzo y trabajo previo que necesita.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 la historia, revisa criterios, tamaño y orden. Los pendientes también se registran.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Scrum · Product Backlog</a:t>
            </a:r>
            <a:endParaRPr lang="en-US" sz="930" dirty="0"/>
          </a:p>
        </p:txBody>
      </p:sp>
      <p:sp>
        <p:nvSpPr>
          <p:cNvPr id="22" name="Text 18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REFERENCIA PARA TU PROYECTO</a:t>
            </a:r>
            <a:endParaRPr lang="en-US" sz="1150" dirty="0"/>
          </a:p>
        </p:txBody>
      </p:sp>
      <p:pic>
        <p:nvPicPr>
          <p:cNvPr id="4" name="Image 0" descr="C:\Users\Diego Obando\dev\tpe401-taller-de-proyecto-de-especialidad\clases\semana-03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2" y="366156"/>
            <a:ext cx="1600200" cy="556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10911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conservar junto a cada historia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1938528"/>
            <a:ext cx="466344" cy="466344"/>
          </a:xfrm>
          <a:prstGeom prst="ellipse">
            <a:avLst/>
          </a:prstGeom>
          <a:solidFill>
            <a:srgbClr val="E0BC5A"/>
          </a:solidFill>
          <a:ln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58775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y propósito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3081528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necesidad resuelve.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09360" y="1938528"/>
            <a:ext cx="466344" cy="466344"/>
          </a:xfrm>
          <a:prstGeom prst="ellipse">
            <a:avLst/>
          </a:prstGeom>
          <a:solidFill>
            <a:srgbClr val="E0BC5A"/>
          </a:solidFill>
          <a:ln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09360" y="258775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de aceptación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309360" y="3081528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comprobar el resultado.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3538728"/>
            <a:ext cx="466344" cy="466344"/>
          </a:xfrm>
          <a:prstGeom prst="ellipse">
            <a:avLst/>
          </a:prstGeom>
          <a:solidFill>
            <a:srgbClr val="E0BC5A"/>
          </a:solidFill>
          <a:ln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" y="418795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y referencia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40080" y="4681728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comparó el esfuerzo.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309360" y="3538728"/>
            <a:ext cx="466344" cy="466344"/>
          </a:xfrm>
          <a:prstGeom prst="ellipse">
            <a:avLst/>
          </a:prstGeom>
          <a:solidFill>
            <a:srgbClr val="E0BC5A"/>
          </a:solidFill>
          <a:ln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09360" y="418795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 y pendientes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309360" y="4681728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abordar antes y qué falta aclarar.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5769864"/>
            <a:ext cx="438912" cy="0"/>
          </a:xfrm>
          <a:prstGeom prst="line">
            <a:avLst/>
          </a:prstGeom>
          <a:noFill/>
          <a:ln w="1397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9161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Historias, estimaciones y orden se revisan cuando se aprende más del producto.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" y="643737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Scrum · Product Backlog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10908792" y="64008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Requerimientos, historias de usuario y estimación</dc:title>
  <dc:subject>TPE401 · Lectura autónoma</dc:subject>
  <dc:creator>Diego Obando</dc:creator>
  <cp:lastModifiedBy>Diego Obando</cp:lastModifiedBy>
  <cp:revision>1</cp:revision>
  <dcterms:created xsi:type="dcterms:W3CDTF">2026-10-19T13:35:39Z</dcterms:created>
  <dcterms:modified xsi:type="dcterms:W3CDTF">2026-10-19T13:35:39Z</dcterms:modified>
</cp:coreProperties>
</file>