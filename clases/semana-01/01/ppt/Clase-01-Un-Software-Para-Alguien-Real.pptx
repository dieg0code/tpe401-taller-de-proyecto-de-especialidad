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2984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CLASE 01 · UNIDAD 1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682496"/>
            <a:ext cx="10424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software para alguien real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2852928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 en este módulo, cómo se evalúa y con qué herramientas llega cada estudiante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58368" y="3931920"/>
            <a:ext cx="1751533" cy="457200"/>
          </a:xfrm>
          <a:prstGeom prst="rect">
            <a:avLst/>
          </a:prstGeom>
          <a:solidFill>
            <a:srgbClr val="D6202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3232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83053" y="3931920"/>
            <a:ext cx="1751533" cy="457200"/>
          </a:xfrm>
          <a:prstGeom prst="rect">
            <a:avLst/>
          </a:prstGeom>
          <a:solidFill>
            <a:srgbClr val="284B75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537917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07738" y="3931920"/>
            <a:ext cx="1751533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2602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32424" y="3931920"/>
            <a:ext cx="1751533" cy="457200"/>
          </a:xfrm>
          <a:prstGeom prst="rect">
            <a:avLst/>
          </a:prstGeom>
          <a:solidFill>
            <a:srgbClr val="3FAE6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87288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7109" y="3931920"/>
            <a:ext cx="1751533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1973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781794" y="3931920"/>
            <a:ext cx="1751533" cy="457200"/>
          </a:xfrm>
          <a:prstGeom prst="rect">
            <a:avLst/>
          </a:prstGeom>
          <a:solidFill>
            <a:srgbClr val="52606D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36658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" y="4517136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Diez semanas para recorrer el ciclo completo de desarrollo de un sistema, sobre un desafío real.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58368" y="5029200"/>
            <a:ext cx="108749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658368" y="5212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Lunes 5 de octubre de 2026 · 08:30 – 10:50</a:t>
            </a:r>
            <a:endParaRPr lang="en-US" sz="126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5212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6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 Obando · AIEP Osorno</a:t>
            </a:r>
            <a:endParaRPr lang="en-US" sz="12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DE LA CLASE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 terminar, tienes que poder responder tres preguntas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28800"/>
            <a:ext cx="3931920" cy="35295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87552" y="21031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 es la única sesión dedicada a explicar el módulo completo.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987552" y="3767328"/>
            <a:ext cx="128016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3" name="Text 10"/>
          <p:cNvSpPr txBox="1"/>
          <p:nvPr/>
        </p:nvSpPr>
        <p:spPr>
          <a:xfrm>
            <a:off x="987552" y="398678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Desde la próxima, cada sesión es un taller sobre el proyecto de tu equipo.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956048" y="184708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5687568" y="1828800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construye?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5687568" y="2249424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de software para una organización real, y el documento que cuenta cómo se desarrolla.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87568" y="2926080"/>
            <a:ext cx="584575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4956048" y="305409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5687568" y="3035808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se evalúa?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687568" y="3456432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entregas con nota sobre el mismo proyecto, y un examen en que el equipo lo presenta.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87568" y="4133088"/>
            <a:ext cx="584575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2" name="Text 19"/>
          <p:cNvSpPr txBox="1"/>
          <p:nvPr/>
        </p:nvSpPr>
        <p:spPr>
          <a:xfrm>
            <a:off x="4956048" y="4261104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0"/>
          <p:cNvSpPr txBox="1"/>
          <p:nvPr/>
        </p:nvSpPr>
        <p:spPr>
          <a:xfrm>
            <a:off x="5687568" y="4242816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¿Con qué cuentas?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87568" y="4663440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que te dejó cada asignatura de la carrera, y el perfil de egreso que las ordena.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LA SESIÓN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140 minutos, en cinco tramos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468880"/>
            <a:ext cx="1128598" cy="822960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2670048"/>
            <a:ext cx="9457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15'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08:30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3419856"/>
            <a:ext cx="109202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módulo distinto y el diagnóstico inicial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823542" y="2468880"/>
            <a:ext cx="2293772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14982" y="2670048"/>
            <a:ext cx="2110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30'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823542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08:45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823542" y="4425696"/>
            <a:ext cx="2257196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182354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823542" y="48097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153891" y="2468880"/>
            <a:ext cx="1905381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45331" y="2670048"/>
            <a:ext cx="1722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25'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4153891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09:15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153891" y="3419856"/>
            <a:ext cx="1868805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4153891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153891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095848" y="2468880"/>
            <a:ext cx="740207" cy="822960"/>
          </a:xfrm>
          <a:prstGeom prst="rect">
            <a:avLst/>
          </a:prstGeom>
          <a:solidFill>
            <a:srgbClr val="D8CFC4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5848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09:40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095848" y="4425696"/>
            <a:ext cx="703631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31" name="Text 28"/>
          <p:cNvSpPr txBox="1"/>
          <p:nvPr/>
        </p:nvSpPr>
        <p:spPr>
          <a:xfrm>
            <a:off x="6095848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Pausa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72630" y="2468880"/>
            <a:ext cx="3458947" cy="82296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64070" y="2670048"/>
            <a:ext cx="32760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45'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6872630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09:50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872630" y="3419856"/>
            <a:ext cx="3422371" cy="0"/>
          </a:xfrm>
          <a:prstGeom prst="line">
            <a:avLst/>
          </a:prstGeom>
          <a:noFill/>
          <a:ln w="12700">
            <a:solidFill>
              <a:srgbClr val="3FAE6A"/>
            </a:solidFill>
            <a:prstDash val="solid"/>
            <a:headEnd type="none"/>
            <a:tailEnd type="none"/>
          </a:ln>
        </p:spPr>
      </p:sp>
      <p:sp>
        <p:nvSpPr>
          <p:cNvPr id="36" name="Text 33"/>
          <p:cNvSpPr txBox="1"/>
          <p:nvPr/>
        </p:nvSpPr>
        <p:spPr>
          <a:xfrm>
            <a:off x="6872630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872630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10368153" y="2468880"/>
            <a:ext cx="112859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459593" y="2670048"/>
            <a:ext cx="9457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15'</a:t>
            </a:r>
            <a:endParaRPr 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10368153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10:35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368153" y="4425696"/>
            <a:ext cx="1092022" cy="0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  <a:headEnd type="none"/>
            <a:tailEnd type="none"/>
          </a:ln>
        </p:spPr>
      </p:sp>
      <p:sp>
        <p:nvSpPr>
          <p:cNvPr id="42" name="Text 39"/>
          <p:cNvSpPr txBox="1"/>
          <p:nvPr/>
        </p:nvSpPr>
        <p:spPr>
          <a:xfrm>
            <a:off x="10368153" y="4517136"/>
            <a:ext cx="1165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368153" y="4809744"/>
            <a:ext cx="116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paso siguiente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984687" y="334670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Este módulo funciona distinto de todos los anteriores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401568" y="1792224"/>
            <a:ext cx="4020160" cy="45720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21024" y="1865376"/>
            <a:ext cx="365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Módulos anteriores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513168" y="1792224"/>
            <a:ext cx="4020160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32624" y="1865376"/>
            <a:ext cx="365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módulo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245059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se aprende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401568" y="237744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21024" y="243230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tema: un lenguaje, una base de datos, una técnica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13168" y="237744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13168" y="237744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32624" y="243230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Nada nuevo: se usa lo que ya sabes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30906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qué depende la nota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401568" y="301752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21024" y="307238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cuánto aprendiste del tema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513168" y="301752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13168" y="301752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32624" y="307238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lo que tu equipo construye y documenta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3730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 define qué programar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3401568" y="365760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1024" y="371246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enunciado del ejercicio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513168" y="365760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13168" y="365760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32624" y="371246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Nadie: averiguarlo es parte del trabajo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" y="43708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quién es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3401568" y="429768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21024" y="435254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el curso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513168" y="429768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13168" y="429768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32624" y="435254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una organización real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658368" y="50109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es la sesión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3401568" y="493776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21024" y="499262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Exposición del docente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513168" y="493776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13168" y="493776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32624" y="499262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sobre el proyecto, con el docente como asesor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EJEMPLO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ferretería de Osorno y su cuaderno de pedidos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01168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011680"/>
            <a:ext cx="2377440" cy="5486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77824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WhatsApp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77824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Llegan unos 40 pedidos al día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27248" y="2606040"/>
            <a:ext cx="640080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858768" y="201168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58768" y="2011680"/>
            <a:ext cx="2377440" cy="548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78224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Cuaderno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078224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pedido se anota a mano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327648" y="2157984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967728" y="1792224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14032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7607808" y="188366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que se pierden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07808" y="217627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Unos tres por semana nunca se preparan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327648" y="3017520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967728" y="2651760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4032" y="27797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607808" y="274320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Bodega a ciegas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607808" y="303580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Nadie sabe qué productos faltan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327648" y="3877056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967728" y="3511296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114032" y="36393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7607808" y="3602736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que llaman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607808" y="389534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preguntar si su pedido está listo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4626864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caso aparece en todo el módulo para mostrar cada etapa con algo concreto. Es solo una ilustración: cada equipo trabaja con su propio desafío.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566928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571500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no es «no tienen una aplicación»: es que pierden ventas y clientes.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 SEMANA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diagnóstico inicial de la asignatura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591056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cuestionario que mide con qué conocimientos llegas al módulo.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286000"/>
            <a:ext cx="2581580" cy="7315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nota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califica: sirve para saber desde dónde parte cada uno.</a:t>
            </a:r>
            <a:endParaRPr lang="en-US" sz="1180" dirty="0"/>
          </a:p>
        </p:txBody>
      </p:sp>
      <p:sp>
        <p:nvSpPr>
          <p:cNvPr id="16" name="Shape 13"/>
          <p:cNvSpPr/>
          <p:nvPr/>
        </p:nvSpPr>
        <p:spPr>
          <a:xfrm>
            <a:off x="342282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22828" y="2286000"/>
            <a:ext cx="2581580" cy="7315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4228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64228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tu cuenta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64228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momento y el lugar que elijas, dentro del plazo.</a:t>
            </a:r>
            <a:endParaRPr lang="en-US" sz="1180" dirty="0"/>
          </a:p>
        </p:txBody>
      </p:sp>
      <p:sp>
        <p:nvSpPr>
          <p:cNvPr id="21" name="Shape 18"/>
          <p:cNvSpPr/>
          <p:nvPr/>
        </p:nvSpPr>
        <p:spPr>
          <a:xfrm>
            <a:off x="618728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87288" y="2286000"/>
            <a:ext cx="2581580" cy="731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674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0674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otra aula virtual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40674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 la del módulo: tiene su propio espacio.</a:t>
            </a:r>
            <a:endParaRPr lang="en-US" sz="1180" dirty="0"/>
          </a:p>
        </p:txBody>
      </p:sp>
      <p:sp>
        <p:nvSpPr>
          <p:cNvPr id="26" name="Shape 23"/>
          <p:cNvSpPr/>
          <p:nvPr/>
        </p:nvSpPr>
        <p:spPr>
          <a:xfrm>
            <a:off x="8951747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51747" y="2286000"/>
            <a:ext cx="258158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71203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171203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Aviso por correo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171203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plazo y el acceso llegan a tu correo AIEP desde evaluacionesnacionales@aiep.cl</a:t>
            </a:r>
            <a:endParaRPr lang="en-US" sz="1180" dirty="0"/>
          </a:p>
        </p:txBody>
      </p:sp>
      <p:sp>
        <p:nvSpPr>
          <p:cNvPr id="31" name="Shape 28"/>
          <p:cNvSpPr/>
          <p:nvPr/>
        </p:nvSpPr>
        <p:spPr>
          <a:xfrm>
            <a:off x="658368" y="4681728"/>
            <a:ext cx="10874959" cy="713232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32688" y="4736592"/>
            <a:ext cx="103263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cerrar el plazo puedes revisar tus respuestas junto con las correctas y su justificación: es la primera retroalimentación del módulo.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DE 3 · 30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se construye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de software para una organización real, las etapas por las que pasa su desarrollo, y el documento que cuenta ese mismo desarrollo por escrito.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QUÉ SE CONSTRUYE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alguien real, no para un enunciado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2763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organización que existe fuera de la sala, tiene un problema concreto y puede decir si el sistema le sirve.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8368" y="2560320"/>
            <a:ext cx="5669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56032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26334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pyme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58368" y="3236976"/>
            <a:ext cx="5669280" cy="548640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3236976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32688" y="331012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institución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58368" y="3913632"/>
            <a:ext cx="5669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913632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32688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junta de vecinos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8368" y="4590288"/>
            <a:ext cx="5669280" cy="548640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4590288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2688" y="466344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fundación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784848" y="1737360"/>
            <a:ext cx="4748479" cy="35295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14032" y="1993392"/>
            <a:ext cx="4108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CAMBIA</a:t>
            </a:r>
            <a:endParaRPr lang="en-US" sz="960" dirty="0"/>
          </a:p>
        </p:txBody>
      </p:sp>
      <p:sp>
        <p:nvSpPr>
          <p:cNvPr id="25" name="Text 22"/>
          <p:cNvSpPr txBox="1"/>
          <p:nvPr/>
        </p:nvSpPr>
        <p:spPr>
          <a:xfrm>
            <a:off x="7114032" y="2377440"/>
            <a:ext cx="40901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 ejercicio de clase, el enunciado dice qué programar.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7114032" y="3419856"/>
            <a:ext cx="10972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7" name="Text 24"/>
          <p:cNvSpPr txBox="1"/>
          <p:nvPr/>
        </p:nvSpPr>
        <p:spPr>
          <a:xfrm>
            <a:off x="7114032" y="3621024"/>
            <a:ext cx="409011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Aquí nadie lo dice: averiguarlo, y averiguarlo bien, es parte del trabajo.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CICLO DE DESARROLLO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Construir un sistema no empieza programando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658368" y="2523744"/>
            <a:ext cx="1644853" cy="45720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está pasando, a quién le afecta y cuánto?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321509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504389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2504389" y="2980944"/>
            <a:ext cx="1644853" cy="45720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559253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04389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32405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 a hacer el sistema y qué no?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167530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4350410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000" dirty="0"/>
          </a:p>
        </p:txBody>
      </p:sp>
      <p:sp>
        <p:nvSpPr>
          <p:cNvPr id="23" name="Shape 20"/>
          <p:cNvSpPr/>
          <p:nvPr/>
        </p:nvSpPr>
        <p:spPr>
          <a:xfrm>
            <a:off x="4350410" y="2523744"/>
            <a:ext cx="1644853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05274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350410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78426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¿Con qué recursos, en cuánto tiempo, cuánto cuesta y quién hace qué?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013552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6196432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3000" dirty="0"/>
          </a:p>
        </p:txBody>
      </p:sp>
      <p:sp>
        <p:nvSpPr>
          <p:cNvPr id="29" name="Shape 26"/>
          <p:cNvSpPr/>
          <p:nvPr/>
        </p:nvSpPr>
        <p:spPr>
          <a:xfrm>
            <a:off x="6196432" y="2980944"/>
            <a:ext cx="1644853" cy="45720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51296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196432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24448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valor entrega y cómo se organiza por dentro?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859573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34" name="Text 31"/>
          <p:cNvSpPr txBox="1"/>
          <p:nvPr/>
        </p:nvSpPr>
        <p:spPr>
          <a:xfrm>
            <a:off x="8042453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3000" dirty="0"/>
          </a:p>
        </p:txBody>
      </p:sp>
      <p:sp>
        <p:nvSpPr>
          <p:cNvPr id="35" name="Shape 32"/>
          <p:cNvSpPr/>
          <p:nvPr/>
        </p:nvSpPr>
        <p:spPr>
          <a:xfrm>
            <a:off x="8042453" y="2523744"/>
            <a:ext cx="1644853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97317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42453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70469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¿Funciona lo que se diseñó?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9705594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9888474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3000" dirty="0"/>
          </a:p>
        </p:txBody>
      </p:sp>
      <p:sp>
        <p:nvSpPr>
          <p:cNvPr id="41" name="Shape 38"/>
          <p:cNvSpPr/>
          <p:nvPr/>
        </p:nvSpPr>
        <p:spPr>
          <a:xfrm>
            <a:off x="9888474" y="2980944"/>
            <a:ext cx="1644853" cy="457200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943338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9888474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016490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¿Lo usan las personas para las que se hizo?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658368" y="563270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50976" y="567842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etapa responde una pregunta distinta, y la siguiente depende de la respuesta de la anterior.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CICLO EN EL EJEMPLO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ferretería, etapa por etapa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73936"/>
            <a:ext cx="1920240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1792224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578608" y="1773936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16352" y="1865376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Entrevistar al dueño, mirar cómo se toma un pedido y contar cuántos se pierden por semana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3017520"/>
            <a:ext cx="1920240" cy="106070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" y="3035808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578608" y="3017520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816352" y="3108960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y seguir pedidos, sí. Controlar la bodega, no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" y="4261104"/>
            <a:ext cx="1920240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" y="4279392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578608" y="4261104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16352" y="4352544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servidor, un computador para el mesón, ocho semanas y un responsable por tarea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278728" y="1773936"/>
            <a:ext cx="1920240" cy="106070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33592" y="1792224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198968" y="1773936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36712" y="1865376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el cliente sepa cuándo está listo su pedido sin tener que llamar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78728" y="3017520"/>
            <a:ext cx="1920240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33592" y="3035808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198968" y="3017520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36712" y="3108960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el registro de pedidos y probarlo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78728" y="4261104"/>
            <a:ext cx="1920240" cy="1060704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33592" y="4279392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8198968" y="4261104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36712" y="4352544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Instalarlo en el mesón y enseñarles a los vendedores a usarlo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58368" y="5669280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4672" y="5660136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cifras de la ferretería son ilustrativas: muestran el tipo de dato que cada etapa necesita.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NO ES UNA INVENCIÓN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perfil de egreso describe ese mismo ciclo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2763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es lo que la carrera se compromete a que sepas hacer al titularte.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58368" y="2103120"/>
            <a:ext cx="10874959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103120"/>
            <a:ext cx="73152" cy="18288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2416" y="2267712"/>
            <a:ext cx="101068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i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«…preparado/a para realizar el ciclo de desarrollo de software, incorporando en ello el análisis de requerimientos, diseño, construcción, pruebas e implementación de soluciones.»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" y="3584448"/>
            <a:ext cx="101068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Técnico de Nivel Superior en Programación y Análisis de Sistemas · perfil profesional de la malla de la carrera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83053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«análisis de requerimientos»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132424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«diseño»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957109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«construcción, pruebas»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9781794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«implementación»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4700016"/>
            <a:ext cx="1751533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2483053" y="4700016"/>
            <a:ext cx="1751533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537917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07738" y="4700016"/>
            <a:ext cx="1751533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62602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132424" y="4700016"/>
            <a:ext cx="1751533" cy="4206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7288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957109" y="4700016"/>
            <a:ext cx="1751533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11973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781794" y="4700016"/>
            <a:ext cx="1751533" cy="420624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36658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58368" y="5340096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módulo es el lugar donde ese ciclo se recorre completo, por primera vez, sobre un caso real.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PROPUESTA DE PROYECTO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construirse, un sistema se aprueba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4358488" y="2852928"/>
            <a:ext cx="3474720" cy="13716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41368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decide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41368" y="332841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dueño de la ferretería, un jefe, un fondo público. No lee código.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" y="179222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179222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" y="19568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problema hay?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3968496" y="3108960"/>
            <a:ext cx="335128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17" name="Shape 14"/>
          <p:cNvSpPr/>
          <p:nvPr/>
        </p:nvSpPr>
        <p:spPr>
          <a:xfrm>
            <a:off x="8241487" y="179222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1487" y="179222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15807" y="19568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propone?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7851496" y="3108960"/>
            <a:ext cx="353416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658368" y="426110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426110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32688" y="4425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¿Cuánto cuesta?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3968496" y="3986784"/>
            <a:ext cx="335128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5" name="Shape 22"/>
          <p:cNvSpPr/>
          <p:nvPr/>
        </p:nvSpPr>
        <p:spPr>
          <a:xfrm>
            <a:off x="8241487" y="426110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41487" y="426110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15807" y="4425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gana?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7851496" y="3986784"/>
            <a:ext cx="353416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9" name="Shape 26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documento que responde esas cuatro preguntas se llama propuesta de proyecto.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LAS PARTES DE LA PROPUESTA · 1 DE 2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Entender el problema y fijar el alcance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3730752" y="1700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RESPONDE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7443216" y="17007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1700784"/>
            <a:ext cx="21150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5836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2011680"/>
            <a:ext cx="54864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" y="204825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Diagnóstico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730752" y="204825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funciona hoy la organización y qué le falla, con datos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443216" y="2084832"/>
            <a:ext cx="1828800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21031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204825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pedidos al día; 3 perdidos por semana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658368" y="267004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2670048"/>
            <a:ext cx="54864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9536" y="2706624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Fundamentación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3730752" y="2706624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vale la pena resolverlo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7443216" y="2743200"/>
            <a:ext cx="1828800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2761488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2706624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pedido perdido es una venta perdida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58368" y="332841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8368" y="3328416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59536" y="3364992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Definición y delimitación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3730752" y="33649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parte del problema se resuelve y qué queda fuera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43216" y="3401568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0" y="3419856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364992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sí; bodega no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658368" y="398678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8368" y="3986784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4023360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Objetivos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3730752" y="4023360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tiene que lograr el sistema, de forma comprobable</a:t>
            </a:r>
            <a:endParaRPr lang="en-US" sz="1180" dirty="0"/>
          </a:p>
        </p:txBody>
      </p:sp>
      <p:sp>
        <p:nvSpPr>
          <p:cNvPr id="39" name="Shape 36"/>
          <p:cNvSpPr/>
          <p:nvPr/>
        </p:nvSpPr>
        <p:spPr>
          <a:xfrm>
            <a:off x="7443216" y="4059936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98080" y="4078224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418320" y="4023360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el 100 % de los pedidos del primer mes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58368" y="464515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8368" y="4645152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9536" y="4681728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 esperado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3730752" y="4681728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va a medir si sirvió</a:t>
            </a:r>
            <a:endParaRPr lang="en-US" sz="1180" dirty="0"/>
          </a:p>
        </p:txBody>
      </p:sp>
      <p:sp>
        <p:nvSpPr>
          <p:cNvPr id="46" name="Shape 43"/>
          <p:cNvSpPr/>
          <p:nvPr/>
        </p:nvSpPr>
        <p:spPr>
          <a:xfrm>
            <a:off x="7443216" y="4718304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0" y="4736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18320" y="4681728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perdidos por semana: de 3 a 0</a:t>
            </a:r>
            <a:endParaRPr lang="en-US" sz="1080" dirty="0"/>
          </a:p>
        </p:txBody>
      </p:sp>
      <p:sp>
        <p:nvSpPr>
          <p:cNvPr id="49" name="Shape 46"/>
          <p:cNvSpPr/>
          <p:nvPr/>
        </p:nvSpPr>
        <p:spPr>
          <a:xfrm>
            <a:off x="658368" y="530352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8368" y="5303520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59536" y="534009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esperado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3730752" y="534009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va a construir concretamente</a:t>
            </a:r>
            <a:endParaRPr lang="en-US" sz="1180" dirty="0"/>
          </a:p>
        </p:txBody>
      </p:sp>
      <p:sp>
        <p:nvSpPr>
          <p:cNvPr id="53" name="Shape 50"/>
          <p:cNvSpPr/>
          <p:nvPr/>
        </p:nvSpPr>
        <p:spPr>
          <a:xfrm>
            <a:off x="7443216" y="5376672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498080" y="53949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418320" y="534009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aplicación web de pedidos</a:t>
            </a:r>
            <a:endParaRPr lang="en-US" sz="10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LAS PARTES DE LA PROPUESTA · 2 DE 2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Planificar, diseñar y construir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3730752" y="1700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RESPONDE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7443216" y="17007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1700784"/>
            <a:ext cx="21150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5836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2011680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" y="204825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y presupuesto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730752" y="204825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necesita y cuánto cuesta, con precios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443216" y="2084832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21031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204825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Servidor, computador y horas de trabajo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658368" y="267004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2670048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9536" y="2706624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Carta Gantt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3730752" y="2706624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hace en cada semana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7443216" y="2743200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2761488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2706624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de pedidos en las semanas 6 y 7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58368" y="332841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8368" y="3328416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59536" y="3364992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3730752" y="33649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 es responsable de cada actividad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43216" y="3401568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0" y="3419856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364992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persona en entrevistas; otra en la base de datos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658368" y="398678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8368" y="3986784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4023360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Elevator Pitch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3730752" y="4023360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explicado en 90 segundos</a:t>
            </a:r>
            <a:endParaRPr lang="en-US" sz="1180" dirty="0"/>
          </a:p>
        </p:txBody>
      </p:sp>
      <p:sp>
        <p:nvSpPr>
          <p:cNvPr id="39" name="Shape 36"/>
          <p:cNvSpPr/>
          <p:nvPr/>
        </p:nvSpPr>
        <p:spPr>
          <a:xfrm>
            <a:off x="7443216" y="4059936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98080" y="4078224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418320" y="4023360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«Ayudamos a ferreterías de barrio a no perder ni una venta…»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58368" y="464515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8368" y="4645152"/>
            <a:ext cx="54864" cy="56692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9536" y="4681728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Lienzo Canvas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3730752" y="4681728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visto como negocio: a quién sirve, qué valor entrega, qué cuesta</a:t>
            </a:r>
            <a:endParaRPr lang="en-US" sz="1180" dirty="0"/>
          </a:p>
        </p:txBody>
      </p:sp>
      <p:sp>
        <p:nvSpPr>
          <p:cNvPr id="46" name="Shape 43"/>
          <p:cNvSpPr/>
          <p:nvPr/>
        </p:nvSpPr>
        <p:spPr>
          <a:xfrm>
            <a:off x="7443216" y="4718304"/>
            <a:ext cx="1828800" cy="4206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0" y="4736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18320" y="4681728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quién es y cuánto cuesta mantenerlo</a:t>
            </a:r>
            <a:endParaRPr lang="en-US" sz="1080" dirty="0"/>
          </a:p>
        </p:txBody>
      </p:sp>
      <p:sp>
        <p:nvSpPr>
          <p:cNvPr id="49" name="Shape 46"/>
          <p:cNvSpPr/>
          <p:nvPr/>
        </p:nvSpPr>
        <p:spPr>
          <a:xfrm>
            <a:off x="658368" y="530352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8368" y="5303520"/>
            <a:ext cx="54864" cy="5669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59536" y="534009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valor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3730752" y="534009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actividades con que el equipo produce y entrega ese valor</a:t>
            </a:r>
            <a:endParaRPr lang="en-US" sz="1180" dirty="0"/>
          </a:p>
        </p:txBody>
      </p:sp>
      <p:sp>
        <p:nvSpPr>
          <p:cNvPr id="53" name="Shape 50"/>
          <p:cNvSpPr/>
          <p:nvPr/>
        </p:nvSpPr>
        <p:spPr>
          <a:xfrm>
            <a:off x="7443216" y="5376672"/>
            <a:ext cx="1828800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498080" y="53949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418320" y="534009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y probar, instalar, capacitar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REGLA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dice la propuesta tiene que verse en el sistema, y al revés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10512"/>
            <a:ext cx="4206240" cy="10972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1883664"/>
            <a:ext cx="3657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dice la propuesta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327087" y="1810512"/>
            <a:ext cx="4206240" cy="10972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01407" y="1883664"/>
            <a:ext cx="3657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hace el sistema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10912" y="2359152"/>
            <a:ext cx="2169871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triangle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5010912" y="1993392"/>
            <a:ext cx="2169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coherencia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3200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FORMAS DE ROMPERLA, EN LA FERRETERÍA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658368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124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43584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objetivo dice «avisar al cliente cuando su pedido esté listo»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243584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sistema no avisa a nadie.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4314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44314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7194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929530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presupuesto no incluye el servidor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4929530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sistema necesita uno para funcionar.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30261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30261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13141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8615477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trae un módulo de bodega completo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8615477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la delimitación dejaba la bodega fuera.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pieza puede estar bien hecha y el proyecto igual fallar: la pauta final evalúa la coherencia.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DE 3 · 25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recorrido de diez semanas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entrega y cuándo, cuáles entregas llevan nota, con qué se revisa cada una y cómo es el examen final.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LAS ENTREGAS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 se mejora, después se califica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1883664"/>
            <a:ext cx="3200400" cy="7315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parte de la entrega, adelantada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NOTA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968496" y="2798064"/>
            <a:ext cx="417424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495648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495648" y="1883664"/>
            <a:ext cx="3200400" cy="731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Retroalimentación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Comentarios concretos: qué está bien y qué mejorar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EVALUACIÓN FORMATIVA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805776" y="2798064"/>
            <a:ext cx="417424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332927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2927" y="1883664"/>
            <a:ext cx="320040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88959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Versión completa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588959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Todas las partes, con las correcciones incorporadas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588959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NOTA · EVALUACIÓN SUMATIVA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58368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9536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59536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hasta cinco integrantes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418256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19424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integrante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619424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sube una copia a su propia aula virtual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178144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379312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79312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PDF, salvo que se indique otro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8938031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39199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máximo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139199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MB por archivo; si pesa más, en ZIP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retroalimentación de un avance es la oportunidad de corregir antes de que cuente para la nota.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CALENDARIO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Ocho entregas en diez semanas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76656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764152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0728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851648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88224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S3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39144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75720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S4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6640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63216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14136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0712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S6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01632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38208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S7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289127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25703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S8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376623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413199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S9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464119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500695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58368" y="3602736"/>
            <a:ext cx="4349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 1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008352" y="3602736"/>
            <a:ext cx="6524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 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669746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166826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221690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oct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221690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 · avance 1</a:t>
            </a:r>
            <a:endParaRPr lang="en-US" sz="980" dirty="0"/>
          </a:p>
        </p:txBody>
      </p:sp>
      <p:sp>
        <p:nvSpPr>
          <p:cNvPr id="36" name="Shape 33"/>
          <p:cNvSpPr/>
          <p:nvPr/>
        </p:nvSpPr>
        <p:spPr>
          <a:xfrm>
            <a:off x="3757242" y="3511296"/>
            <a:ext cx="0" cy="749808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254322" y="426110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309186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309186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 · avance 2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4409740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906820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961684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oct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3961684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Elevator Pitch</a:t>
            </a:r>
            <a:endParaRPr lang="en-US" sz="980" dirty="0"/>
          </a:p>
        </p:txBody>
      </p:sp>
      <p:sp>
        <p:nvSpPr>
          <p:cNvPr id="44" name="Shape 41"/>
          <p:cNvSpPr/>
          <p:nvPr/>
        </p:nvSpPr>
        <p:spPr>
          <a:xfrm>
            <a:off x="4844738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341818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396682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oct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4396682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</a:t>
            </a:r>
            <a:endParaRPr lang="en-US" sz="980" dirty="0"/>
          </a:p>
        </p:txBody>
      </p:sp>
      <p:sp>
        <p:nvSpPr>
          <p:cNvPr id="48" name="Shape 45"/>
          <p:cNvSpPr/>
          <p:nvPr/>
        </p:nvSpPr>
        <p:spPr>
          <a:xfrm>
            <a:off x="7019730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516810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571674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nov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571674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 · avance 1</a:t>
            </a:r>
            <a:endParaRPr lang="en-US" sz="980" dirty="0"/>
          </a:p>
        </p:txBody>
      </p:sp>
      <p:sp>
        <p:nvSpPr>
          <p:cNvPr id="52" name="Shape 49"/>
          <p:cNvSpPr/>
          <p:nvPr/>
        </p:nvSpPr>
        <p:spPr>
          <a:xfrm>
            <a:off x="9194722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691802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746666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nov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746666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</a:t>
            </a:r>
            <a:endParaRPr lang="en-US" sz="980" dirty="0"/>
          </a:p>
        </p:txBody>
      </p:sp>
      <p:sp>
        <p:nvSpPr>
          <p:cNvPr id="56" name="Shape 53"/>
          <p:cNvSpPr/>
          <p:nvPr/>
        </p:nvSpPr>
        <p:spPr>
          <a:xfrm>
            <a:off x="10282218" y="2615184"/>
            <a:ext cx="0" cy="585216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779298" y="179222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9834162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dic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9834162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</a:t>
            </a:r>
            <a:endParaRPr lang="en-US" sz="980" dirty="0"/>
          </a:p>
        </p:txBody>
      </p:sp>
      <p:sp>
        <p:nvSpPr>
          <p:cNvPr id="60" name="Shape 57"/>
          <p:cNvSpPr/>
          <p:nvPr/>
        </p:nvSpPr>
        <p:spPr>
          <a:xfrm>
            <a:off x="11369714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527487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582351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dic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10582351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Examen final</a:t>
            </a:r>
            <a:endParaRPr lang="en-US" sz="980" dirty="0"/>
          </a:p>
        </p:txBody>
      </p:sp>
      <p:sp>
        <p:nvSpPr>
          <p:cNvPr id="64" name="Shape 61"/>
          <p:cNvSpPr/>
          <p:nvPr/>
        </p:nvSpPr>
        <p:spPr>
          <a:xfrm>
            <a:off x="658368" y="5358384"/>
            <a:ext cx="274320" cy="201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1024128" y="5349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Lleva nota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2487168" y="5358384"/>
            <a:ext cx="2743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2852928" y="53492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retroalimentación, sin nota</a:t>
            </a:r>
            <a:endParaRPr lang="en-US" sz="1100" dirty="0"/>
          </a:p>
        </p:txBody>
      </p:sp>
      <p:sp>
        <p:nvSpPr>
          <p:cNvPr id="68" name="Text 65"/>
          <p:cNvSpPr txBox="1"/>
          <p:nvPr/>
        </p:nvSpPr>
        <p:spPr>
          <a:xfrm>
            <a:off x="6327648" y="53492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sesiones el lunes 12 de octubre ni el martes 8 de diciembre: son feriados.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ENTREGABLE I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documento de diez puntos, en tres avances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450592"/>
            <a:ext cx="3503066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50592"/>
            <a:ext cx="350306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2468880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" y="2999232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1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881274" y="3054096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oct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529584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Diagnóstico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" y="3895344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Fundamentación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44314" y="2139696"/>
            <a:ext cx="3503066" cy="2980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4314" y="2139696"/>
            <a:ext cx="3503066" cy="3840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9178" y="2157984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582058" y="2688336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2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67221" y="2743200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82058" y="321868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Definición y delimitación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82058" y="358444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Objetivos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82058" y="395020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Impacto esperado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4582058" y="431596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Producto esperado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030261" y="1828800"/>
            <a:ext cx="350306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30261" y="1828800"/>
            <a:ext cx="3503066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85125" y="1847088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8005" y="2377440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3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10253167" y="2432304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oct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68005" y="290779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Recursos y presupuesto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268005" y="327355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 Carta Gantt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268005" y="363931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 Organización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268005" y="400507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 Elevator Pitch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5504688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5550408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avance 3 va con los avances 1 y 2 corregidos: esa versión completa es la nota de la Unidad 1.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MARTES 27 DE OCTUBRE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proyecto en un viaje en ascensor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92224"/>
            <a:ext cx="3291840" cy="35661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</a:t>
            </a:r>
            <a:endParaRPr lang="en-US" sz="96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5112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segundos como máximo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755648" y="4023360"/>
            <a:ext cx="10972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932688" y="42245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pitch por proyecto, y exponen todos los integrantes.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224528" y="1792224"/>
            <a:ext cx="7308799" cy="786384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272" y="1883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GANCHO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462272" y="2103120"/>
            <a:ext cx="6851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«¿Cuántas ventas pierde una ferretería por un cuaderno mal llenado?»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224528" y="2743200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52544" y="287121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4919472" y="2852928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Quiénes son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919472" y="3145536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Nombre, carrera y escuela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970368" y="2743200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98384" y="287121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8665312" y="2852928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quién ayudan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665312" y="3145536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público objetivo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224528" y="3639312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52544" y="37673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4919472" y="3749040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 formación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4919472" y="4041648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Experiencia y formación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970368" y="3639312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98384" y="37673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8665312" y="3749040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aplican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8665312" y="4041648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o soluciones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224528" y="4535424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52544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919472" y="4645152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4919472" y="4937760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producto o servicio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970368" y="4535424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098384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8665312" y="4645152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contactarlos</a:t>
            </a:r>
            <a:endParaRPr lang="en-US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8665312" y="4937760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Teléfono, web, correo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658368" y="5596128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04672" y="5586984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pauta también evalúa el dominio, el manejo de la voz y una vestimenta acorde a la idea presentada.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UNIDAD 2 Y CIERRE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valor del proyecto a la entrega final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92224"/>
            <a:ext cx="4754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1792224"/>
            <a:ext cx="4754880" cy="7315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201168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 · 11 Y 25 DE NOVIEMBRE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23957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Lienzo Canvas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27249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como negocio, en nueve bloques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3328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valor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nueve actividades con que se produce y entrega el valor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42611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del sistema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4590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de lo que ya funciona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541264" y="3566160"/>
            <a:ext cx="548640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236208" y="1792224"/>
            <a:ext cx="5297119" cy="35661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10528" y="2011680"/>
            <a:ext cx="48399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 · 2 DE DICIEMBRE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6510528" y="2450592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11696" y="2395728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711696" y="2706624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su evidencia: código, video funcionando, capturas, manual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10528" y="3236976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711696" y="3182112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completa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711696" y="3493008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I y II en su versión final, corregidos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10528" y="402336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711696" y="3968496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evidencias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711696" y="4279392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Entrevistas, encuestas, cotizaciones, matriz FODA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510528" y="4773168"/>
            <a:ext cx="4748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tres cuestionarios obligatorios de la carrera, que cada estudiante responde junto con el portafolio.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portafolio va una semana antes del examen: su retroalimentación sirve para preparar la presentación.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MIÉRCOLES 9 DE DICIEMBRE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examen final tiene dos partes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llama Evaluación Integrada de Especialidad: mide si desarrollaste las competencias del perfil de egreso de tu carrera.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479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377440"/>
            <a:ext cx="73152" cy="24688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9264" y="2596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1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969264" y="2889504"/>
            <a:ext cx="424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del Resumen Ejecutivo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" y="3712464"/>
            <a:ext cx="424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hace el equipo: el proyecto completo, expuesto en 15 minutos ante quien podría invertir en él.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35928" y="2377440"/>
            <a:ext cx="479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735928" y="2377440"/>
            <a:ext cx="73152" cy="24688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046824" y="2596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2</a:t>
            </a:r>
            <a:endParaRPr lang="en-US" sz="960" dirty="0"/>
          </a:p>
        </p:txBody>
      </p:sp>
      <p:sp>
        <p:nvSpPr>
          <p:cNvPr id="19" name="Text 16"/>
          <p:cNvSpPr txBox="1"/>
          <p:nvPr/>
        </p:nvSpPr>
        <p:spPr>
          <a:xfrm>
            <a:off x="7046824" y="2889504"/>
            <a:ext cx="424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escala de apreciación de competencias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046824" y="3712464"/>
            <a:ext cx="424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completa el docente por cada estudiante: qué tan preparado está para aplicar cada competencia en un trabajo real.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55768" y="32004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½ + ½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658368" y="5212080"/>
            <a:ext cx="10874959" cy="530352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976" y="525780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repruebe la presentación la repite en el examen de recalificación, con las mejoras indicadas.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RESUMEN EJECUTIVO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Siete láminas en 15 minutos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920240"/>
            <a:ext cx="914400" cy="118872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286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—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58368" y="3236976"/>
            <a:ext cx="91440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310128"/>
            <a:ext cx="154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Portada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3602736"/>
            <a:ext cx="154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del proyecto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645920" y="1920240"/>
            <a:ext cx="573816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55648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645920" y="2286000"/>
            <a:ext cx="573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1'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645920" y="4242816"/>
            <a:ext cx="573816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1645920" y="4315968"/>
            <a:ext cx="17763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general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608576"/>
            <a:ext cx="177631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Integrantes, carrera, sede, foto del equipo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292888" y="1920240"/>
            <a:ext cx="1147633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40261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292888" y="2286000"/>
            <a:ext cx="114763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2'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2292888" y="3236976"/>
            <a:ext cx="1147633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2292888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Desafío o necesidad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292888" y="3602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el objetivo general y los específicos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513673" y="1920240"/>
            <a:ext cx="1721449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623401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13673" y="2286000"/>
            <a:ext cx="17214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3'</a:t>
            </a:r>
            <a:endParaRPr lang="en-US" sz="2600" dirty="0"/>
          </a:p>
        </p:txBody>
      </p:sp>
      <p:sp>
        <p:nvSpPr>
          <p:cNvPr id="31" name="Shape 28"/>
          <p:cNvSpPr/>
          <p:nvPr/>
        </p:nvSpPr>
        <p:spPr>
          <a:xfrm>
            <a:off x="3513673" y="4242816"/>
            <a:ext cx="172144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2" name="Text 29"/>
          <p:cNvSpPr txBox="1"/>
          <p:nvPr/>
        </p:nvSpPr>
        <p:spPr>
          <a:xfrm>
            <a:off x="3513673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propuesta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513673" y="46085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Fundamentada en el diagnóstico, con el pitch y el Canvas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308275" y="1920240"/>
            <a:ext cx="3442899" cy="1188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18003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308275" y="2286000"/>
            <a:ext cx="34428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6'</a:t>
            </a:r>
            <a:endParaRPr lang="en-US" sz="2600" dirty="0"/>
          </a:p>
        </p:txBody>
      </p:sp>
      <p:sp>
        <p:nvSpPr>
          <p:cNvPr id="37" name="Shape 34"/>
          <p:cNvSpPr/>
          <p:nvPr/>
        </p:nvSpPr>
        <p:spPr>
          <a:xfrm>
            <a:off x="5308275" y="3236976"/>
            <a:ext cx="3442899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38" name="Text 35"/>
          <p:cNvSpPr txBox="1"/>
          <p:nvPr/>
        </p:nvSpPr>
        <p:spPr>
          <a:xfrm>
            <a:off x="5308275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técnica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08275" y="3602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sistema, con evidencia de que existe y funciona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824326" y="1920240"/>
            <a:ext cx="1721449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934054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824326" y="2286000"/>
            <a:ext cx="17214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3'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8824326" y="4242816"/>
            <a:ext cx="172144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44" name="Text 41"/>
          <p:cNvSpPr txBox="1"/>
          <p:nvPr/>
        </p:nvSpPr>
        <p:spPr>
          <a:xfrm>
            <a:off x="8824326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24326" y="46085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Importancia, viabilidad y sostenibilidad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0618927" y="1920240"/>
            <a:ext cx="914400" cy="118872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728655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10618927" y="2286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—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10618927" y="3236976"/>
            <a:ext cx="91440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50" name="Text 47"/>
          <p:cNvSpPr txBox="1"/>
          <p:nvPr/>
        </p:nvSpPr>
        <p:spPr>
          <a:xfrm>
            <a:off x="9887407" y="3310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887407" y="36027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preguntas del docente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lámina que más tiempo tiene es la del sistema: el software es la evidencia central del proyecto.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144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TRES PREGUNTAS DEL EXAMEN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conocen desde hoy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1945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11" name="Text 8"/>
          <p:cNvSpPr txBox="1"/>
          <p:nvPr/>
        </p:nvSpPr>
        <p:spPr>
          <a:xfrm>
            <a:off x="1572768" y="2304288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mejoras se le podrían hacer a la solución técnica?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572768" y="2743200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vocabulario técnico y con fundamento en las herramientas de la especialidad.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1572768" y="3218688"/>
            <a:ext cx="99605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364992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5" name="Text 12"/>
          <p:cNvSpPr txBox="1"/>
          <p:nvPr/>
        </p:nvSpPr>
        <p:spPr>
          <a:xfrm>
            <a:off x="1572768" y="3474720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aprendieron en todo el proceso del proyecto?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1572768" y="3913632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desarrolló, en la práctica, lo que el módulo se propone.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1572768" y="4389120"/>
            <a:ext cx="99605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658368" y="4535424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6"/>
          <p:cNvSpPr txBox="1"/>
          <p:nvPr/>
        </p:nvSpPr>
        <p:spPr>
          <a:xfrm>
            <a:off x="1572768" y="4645152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su propuesta es innovadora?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1572768" y="5084064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al menos dos argumentos.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57607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docente puede dirigirlas al equipo completo o a un integrante en particular.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LAS PAUTAS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entrega se revisa con una pauta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indicador es un aspecto que se evalúa. Cada uno se ubica en uno de tres niveles: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1554480" cy="274320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3591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86 – 100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Avanzado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395728" y="2834640"/>
            <a:ext cx="1554480" cy="21031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95728" y="29992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 – 85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239572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Adecuado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133088" y="3474720"/>
            <a:ext cx="1554480" cy="14630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33088" y="36393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– 59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13308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desarrollo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53400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puntos por indicador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327648" y="2194560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SE REVISA EN TODAS LAS ENTREGAS</a:t>
            </a:r>
            <a:endParaRPr lang="en-US" sz="960" dirty="0"/>
          </a:p>
        </p:txBody>
      </p:sp>
      <p:sp>
        <p:nvSpPr>
          <p:cNvPr id="22" name="Text 19"/>
          <p:cNvSpPr txBox="1"/>
          <p:nvPr/>
        </p:nvSpPr>
        <p:spPr>
          <a:xfrm>
            <a:off x="632764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748272" y="254203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plazo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748272" y="283464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entrega en la fecha o antes.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2764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748272" y="327355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formato oficial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748272" y="356616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usa y se siguen sus instrucciones.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748272" y="400507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redacción y la ortografía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29768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Permiten leer y entender el trabajo.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27648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748272" y="473659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sostenibilidad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748272" y="502920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puede seguir funcionando sin el equipo que lo creó.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DE 3 · 45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qué herramientas llegas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de tu carrera, lo que te dejó cada asignatura, y para qué sirve saberlo: elegir el desafío de tu equipo.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PERFIL DE EGRESO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frase del perfil, una pregunta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es el criterio con que se evalúa el examen. Un proyecto que responde que sí a estas preguntas lo muestra.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377440"/>
            <a:ext cx="3503066" cy="6400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«análisis de requerimientos»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analizó qué necesita la organización?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344314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4314" y="2377440"/>
            <a:ext cx="3503066" cy="6400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3770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«diseño»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63770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¿Hay un diseño del sistema?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8030261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30261" y="2377440"/>
            <a:ext cx="3503066" cy="640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49717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«construcción, pruebas»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49717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construyó y se probó?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58368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8368" y="3913632"/>
            <a:ext cx="3503066" cy="64008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7824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«implementación de soluciones»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77824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instaló donde se va a usar?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4344314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44314" y="3913632"/>
            <a:ext cx="3503066" cy="64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563770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«soluciones informáticas seguras»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563770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¿Protege los datos y el acceso?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8030261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30261" y="3913632"/>
            <a:ext cx="3503066" cy="64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49717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«requerimientos del cliente»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249717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¿Responde a lo que pidió el cliente?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658368" y="5596128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4672" y="5586984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Frases del perfil profesional del Técnico de Nivel Superior en Programación y Análisis de Sistemas, malla de la carrera.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LO QUE TE DEJÓ CADA ASIGNATURA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semestres de herramientas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37360"/>
            <a:ext cx="3442106" cy="4023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1.er semestre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4672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Fundamentos de Programación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lógica y estructuras de datos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Introducción a Requerimientos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levantar requerimientos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58368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Bases de Datos Relacionales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relacional y SQL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374794" y="1737360"/>
            <a:ext cx="3442106" cy="40233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57674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2.º semestre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374794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1098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Programación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21098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programas completos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74794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1098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Bases de Datos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21098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base de datos para un caso real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374794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21098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Programación Segura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21098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 y credenciales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374794" y="3931920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1098" y="39684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Metodologías de Desarrollo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21098" y="41879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metodologías ágiles, historias de usuario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74794" y="4498848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1098" y="45354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para la Innovación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521098" y="475488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y evaluar ideas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374794" y="5065776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21098" y="51023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de IA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21098" y="532180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 generativa en el trabajo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8091221" y="1737360"/>
            <a:ext cx="3442106" cy="402336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4101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3.er semestre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8091221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37525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Aplicaciones para Internet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237525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aplicaciones web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091221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37525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Modelamiento de Procesos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237525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mapas de proceso, BPMN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8091221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37525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Análisis de Sistemas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8237525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de uso y diagramas de clases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091221" y="3931920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37525" y="39684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 de Especialidad I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237525" y="41879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servicios en la nube (AWS)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8091221" y="4498848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37525" y="45354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Sostenibilidad Organizacional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8237525" y="475488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soluciones que se sostienen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658368" y="5705856"/>
            <a:ext cx="10874959" cy="4937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950976" y="5751576"/>
            <a:ext cx="10289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 punto de partida: súmale lo que sabes hacer por tu cuenta. Este semestre se agregan Móviles y Testing.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PRIMER PASO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desafío sale de un caso real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desafío es la necesidad real que va a resolver el equipo. Los desafíos salen de casos de organizaciones reales de la zona, que entrega el docente, y cada equipo elige uno.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56032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53312" y="2633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conversar con la organización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353312" y="2926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levantar datos: entrevistas, encuestas, observación.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338328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353312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Pide software de verdad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353312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resuelve con una planilla.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420624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1353312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Deja ver las herramientas del equipo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353312" y="4572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Requerimientos, base de datos, una aplicación, pruebas.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876288" y="2560320"/>
            <a:ext cx="4657039" cy="1133856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14032" y="2651760"/>
            <a:ext cx="419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deja ver el perfil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114032" y="2926080"/>
            <a:ext cx="4199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desafío que se resuelve con una planilla.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876288" y="3840480"/>
            <a:ext cx="4657039" cy="1133856"/>
          </a:xfrm>
          <a:prstGeom prst="rect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114032" y="3931920"/>
            <a:ext cx="419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 deja ver el perfil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114032" y="4206240"/>
            <a:ext cx="41998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 que pide levantar requerimientos, diseñar una base de datos y construir una aplicación.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desafío elegido parte el diagnóstico de la semana 2.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144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ideas para llevarse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658368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194560"/>
            <a:ext cx="3503066" cy="64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construye un sistema para alguien real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recorriendo el ciclo completo: del descubrimiento a la puesta en marcha.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44314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44314" y="2194560"/>
            <a:ext cx="3503066" cy="64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00346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es ese mismo desarrollo escrito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600346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lo que dice tiene que poder verse en el sistema.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030261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30261" y="2194560"/>
            <a:ext cx="3503066" cy="6400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86293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entrega se apoya en la anterior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286293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examen presenta el proyecto completo ante quien podría decidir hacerlo.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58368" y="4754880"/>
            <a:ext cx="1751533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483053" y="4754880"/>
            <a:ext cx="1751533" cy="384048"/>
          </a:xfrm>
          <a:prstGeom prst="rect">
            <a:avLst/>
          </a:prstGeom>
          <a:solidFill>
            <a:srgbClr val="284B75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537917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07738" y="4754880"/>
            <a:ext cx="1751533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62602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132424" y="4754880"/>
            <a:ext cx="1751533" cy="384048"/>
          </a:xfrm>
          <a:prstGeom prst="rect">
            <a:avLst/>
          </a:prstGeom>
          <a:solidFill>
            <a:srgbClr val="3FAE6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87288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957109" y="4754880"/>
            <a:ext cx="1751533" cy="384048"/>
          </a:xfrm>
          <a:prstGeom prst="rect">
            <a:avLst/>
          </a:prstGeom>
          <a:solidFill>
            <a:srgbClr val="102A43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1973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9781794" y="4754880"/>
            <a:ext cx="1751533" cy="384048"/>
          </a:xfrm>
          <a:prstGeom prst="rect">
            <a:avLst/>
          </a:prstGeom>
          <a:solidFill>
            <a:srgbClr val="52606D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36658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5358384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sigue: formar los equipos y elegir el desafío.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 software para alguien real</dc:title>
  <dc:subject>TPE401 · Clase 01</dc:subject>
  <dc:creator>Diego Obando</dc:creator>
  <cp:lastModifiedBy>Diego Obando</cp:lastModifiedBy>
  <cp:revision>1</cp:revision>
  <dcterms:created xsi:type="dcterms:W3CDTF">2026-10-04T18:20:56Z</dcterms:created>
  <dcterms:modified xsi:type="dcterms:W3CDTF">2026-10-04T18:20:56Z</dcterms:modified>
</cp:coreProperties>
</file>