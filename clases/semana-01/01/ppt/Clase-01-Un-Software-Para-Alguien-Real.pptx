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tpe401-taller-de-proyecto-de-especialidad\clases\semana-01\01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TPE401 · Taller de Proyecto de Especialidad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298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TPE401 · CLASE 01 · UNIDAD 1</a:t>
            </a:r>
            <a:endParaRPr lang="en-US" sz="96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682496"/>
            <a:ext cx="104241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software para alguien real</a:t>
            </a:r>
            <a:endParaRPr lang="en-US" sz="4600" dirty="0"/>
          </a:p>
        </p:txBody>
      </p:sp>
      <p:sp>
        <p:nvSpPr>
          <p:cNvPr id="10" name="Shape 7"/>
          <p:cNvSpPr/>
          <p:nvPr/>
        </p:nvSpPr>
        <p:spPr>
          <a:xfrm>
            <a:off x="658368" y="2852928"/>
            <a:ext cx="384048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1" name="Text 8"/>
          <p:cNvSpPr txBox="1"/>
          <p:nvPr/>
        </p:nvSpPr>
        <p:spPr>
          <a:xfrm>
            <a:off x="658368" y="31089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se construye en este módulo, cómo se evalúa y con qué herramientas llega cada estudiante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58368" y="3931920"/>
            <a:ext cx="1751533" cy="457200"/>
          </a:xfrm>
          <a:prstGeom prst="rect">
            <a:avLst/>
          </a:prstGeom>
          <a:solidFill>
            <a:srgbClr val="D6202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3232" y="3950208"/>
            <a:ext cx="164180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Descubrimiento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483053" y="3931920"/>
            <a:ext cx="1751533" cy="457200"/>
          </a:xfrm>
          <a:prstGeom prst="rect">
            <a:avLst/>
          </a:prstGeom>
          <a:solidFill>
            <a:srgbClr val="284B75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537917" y="3950208"/>
            <a:ext cx="164180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307738" y="3931920"/>
            <a:ext cx="1751533" cy="457200"/>
          </a:xfrm>
          <a:prstGeom prst="rect">
            <a:avLst/>
          </a:prstGeom>
          <a:solidFill>
            <a:srgbClr val="E0BC5A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362602" y="3950208"/>
            <a:ext cx="164180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Planificación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32424" y="3931920"/>
            <a:ext cx="1751533" cy="457200"/>
          </a:xfrm>
          <a:prstGeom prst="rect">
            <a:avLst/>
          </a:prstGeom>
          <a:solidFill>
            <a:srgbClr val="3FAE6A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187288" y="3950208"/>
            <a:ext cx="164180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957109" y="3931920"/>
            <a:ext cx="1751533" cy="457200"/>
          </a:xfrm>
          <a:prstGeom prst="rect">
            <a:avLst/>
          </a:prstGeom>
          <a:solidFill>
            <a:srgbClr val="102A43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011973" y="3950208"/>
            <a:ext cx="164180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Construcción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9781794" y="3931920"/>
            <a:ext cx="1751533" cy="457200"/>
          </a:xfrm>
          <a:prstGeom prst="rect">
            <a:avLst/>
          </a:prstGeom>
          <a:solidFill>
            <a:srgbClr val="52606D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836658" y="3950208"/>
            <a:ext cx="164180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Puesta en marcha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658368" y="451713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Diez semanas para recorrer el ciclo completo de desarrollo de un sistema, sobre un desafío real.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58368" y="5029200"/>
            <a:ext cx="10874959" cy="0"/>
          </a:xfrm>
          <a:prstGeom prst="line">
            <a:avLst/>
          </a:prstGeom>
          <a:noFill/>
          <a:ln w="12700">
            <a:solidFill>
              <a:srgbClr val="2C4A66"/>
            </a:solidFill>
            <a:prstDash val="solid"/>
            <a:headEnd type="none"/>
            <a:tailEnd type="none"/>
          </a:ln>
        </p:spPr>
      </p:sp>
      <p:sp>
        <p:nvSpPr>
          <p:cNvPr id="26" name="Text 23"/>
          <p:cNvSpPr txBox="1"/>
          <p:nvPr/>
        </p:nvSpPr>
        <p:spPr>
          <a:xfrm>
            <a:off x="658368" y="52120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Lunes 5 de octubre de 2026 · 08:30 – 10:50</a:t>
            </a:r>
            <a:endParaRPr lang="en-US" sz="1260" dirty="0"/>
          </a:p>
        </p:txBody>
      </p:sp>
      <p:sp>
        <p:nvSpPr>
          <p:cNvPr id="27" name="Text 24"/>
          <p:cNvSpPr txBox="1"/>
          <p:nvPr/>
        </p:nvSpPr>
        <p:spPr>
          <a:xfrm>
            <a:off x="7498080" y="5212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6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Diego Obando · AIEP Osorno</a:t>
            </a:r>
            <a:endParaRPr lang="en-US" sz="12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tpe401-taller-de-proyecto-de-especialidad\clases\semana-01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TPE401 · Taller de Proyecto de Especialidad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 DE LA CLASE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 terminar, tienes que poder responder tres preguntas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658368" y="1828800"/>
            <a:ext cx="3931920" cy="35295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87552" y="210312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 es la única sesión dedicada a explicar el módulo completo.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987552" y="3767328"/>
            <a:ext cx="128016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3" name="Text 10"/>
          <p:cNvSpPr txBox="1"/>
          <p:nvPr/>
        </p:nvSpPr>
        <p:spPr>
          <a:xfrm>
            <a:off x="987552" y="3986784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Desde la próxima, cada sesión es un taller sobre el proyecto.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956048" y="184708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5687568" y="1828800"/>
            <a:ext cx="58457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se construye?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5687568" y="2249424"/>
            <a:ext cx="5845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sistema de software para una organización real, y el documento que cuenta cómo se desarrolla.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687568" y="2926080"/>
            <a:ext cx="5845759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8" name="Text 15"/>
          <p:cNvSpPr txBox="1"/>
          <p:nvPr/>
        </p:nvSpPr>
        <p:spPr>
          <a:xfrm>
            <a:off x="4956048" y="3054096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4000" dirty="0"/>
          </a:p>
        </p:txBody>
      </p:sp>
      <p:sp>
        <p:nvSpPr>
          <p:cNvPr id="19" name="Text 16"/>
          <p:cNvSpPr txBox="1"/>
          <p:nvPr/>
        </p:nvSpPr>
        <p:spPr>
          <a:xfrm>
            <a:off x="5687568" y="3035808"/>
            <a:ext cx="58457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¿Cómo se evalúa?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5687568" y="3456432"/>
            <a:ext cx="5845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entregas con nota sobre el mismo proyecto, y un examen en que el equipo lo presenta.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687568" y="4133088"/>
            <a:ext cx="5845759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2" name="Text 19"/>
          <p:cNvSpPr txBox="1"/>
          <p:nvPr/>
        </p:nvSpPr>
        <p:spPr>
          <a:xfrm>
            <a:off x="4956048" y="4261104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4000" dirty="0"/>
          </a:p>
        </p:txBody>
      </p:sp>
      <p:sp>
        <p:nvSpPr>
          <p:cNvPr id="23" name="Text 20"/>
          <p:cNvSpPr txBox="1"/>
          <p:nvPr/>
        </p:nvSpPr>
        <p:spPr>
          <a:xfrm>
            <a:off x="5687568" y="4242816"/>
            <a:ext cx="58457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¿Con qué cuentas?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5687568" y="4663440"/>
            <a:ext cx="5845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herramientas que te dejó cada asignatura de la carrera, y el perfil de egreso que las ordena.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tpe401-taller-de-proyecto-de-especialidad\clases\semana-01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TPE401 · Taller de Proyecto de Especialidad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 DE LA SESIÓN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140 minutos, en cinco tramos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658368" y="2468880"/>
            <a:ext cx="1128598" cy="822960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670048"/>
            <a:ext cx="9457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15'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213969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08:30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58368" y="3419856"/>
            <a:ext cx="1092022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headEnd type="none"/>
            <a:tailEnd type="none"/>
          </a:ln>
        </p:spPr>
      </p:sp>
      <p:sp>
        <p:nvSpPr>
          <p:cNvPr id="14" name="Text 11"/>
          <p:cNvSpPr txBox="1"/>
          <p:nvPr/>
        </p:nvSpPr>
        <p:spPr>
          <a:xfrm>
            <a:off x="658368" y="35112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Encuadre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58368" y="380390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módulo distinto y el diagnóstico inicial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1823542" y="2468880"/>
            <a:ext cx="2293772" cy="8229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914982" y="2670048"/>
            <a:ext cx="21108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30'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1823542" y="213969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08:45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823542" y="4425696"/>
            <a:ext cx="2257196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20" name="Text 17"/>
          <p:cNvSpPr txBox="1"/>
          <p:nvPr/>
        </p:nvSpPr>
        <p:spPr>
          <a:xfrm>
            <a:off x="1823542" y="45171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823542" y="480974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se construye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153891" y="2468880"/>
            <a:ext cx="1905381" cy="822960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245331" y="2670048"/>
            <a:ext cx="172250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25'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4153891" y="213969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09:15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153891" y="3419856"/>
            <a:ext cx="1868805" cy="0"/>
          </a:xfrm>
          <a:prstGeom prst="line">
            <a:avLst/>
          </a:prstGeom>
          <a:noFill/>
          <a:ln w="12700">
            <a:solidFill>
              <a:srgbClr val="284B75"/>
            </a:solidFill>
            <a:prstDash val="solid"/>
            <a:headEnd type="none"/>
            <a:tailEnd type="none"/>
          </a:ln>
        </p:spPr>
      </p:sp>
      <p:sp>
        <p:nvSpPr>
          <p:cNvPr id="26" name="Text 23"/>
          <p:cNvSpPr txBox="1"/>
          <p:nvPr/>
        </p:nvSpPr>
        <p:spPr>
          <a:xfrm>
            <a:off x="4153891" y="35112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4153891" y="380390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recorrido de diez semanas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095848" y="2468880"/>
            <a:ext cx="740207" cy="822960"/>
          </a:xfrm>
          <a:prstGeom prst="rect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095848" y="213969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09:40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095848" y="4425696"/>
            <a:ext cx="703631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headEnd type="none"/>
            <a:tailEnd type="none"/>
          </a:ln>
        </p:spPr>
      </p:sp>
      <p:sp>
        <p:nvSpPr>
          <p:cNvPr id="31" name="Text 28"/>
          <p:cNvSpPr txBox="1"/>
          <p:nvPr/>
        </p:nvSpPr>
        <p:spPr>
          <a:xfrm>
            <a:off x="6095848" y="45171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Pausa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872630" y="2468880"/>
            <a:ext cx="3458947" cy="822960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964070" y="2670048"/>
            <a:ext cx="327606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45'</a:t>
            </a:r>
            <a:endParaRPr lang="en-US" sz="2000" dirty="0"/>
          </a:p>
        </p:txBody>
      </p:sp>
      <p:sp>
        <p:nvSpPr>
          <p:cNvPr id="34" name="Text 31"/>
          <p:cNvSpPr txBox="1"/>
          <p:nvPr/>
        </p:nvSpPr>
        <p:spPr>
          <a:xfrm>
            <a:off x="6872630" y="213969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09:50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872630" y="3419856"/>
            <a:ext cx="3422371" cy="0"/>
          </a:xfrm>
          <a:prstGeom prst="line">
            <a:avLst/>
          </a:prstGeom>
          <a:noFill/>
          <a:ln w="12700">
            <a:solidFill>
              <a:srgbClr val="3FAE6A"/>
            </a:solidFill>
            <a:prstDash val="solid"/>
            <a:headEnd type="none"/>
            <a:tailEnd type="none"/>
          </a:ln>
        </p:spPr>
      </p:sp>
      <p:sp>
        <p:nvSpPr>
          <p:cNvPr id="36" name="Text 33"/>
          <p:cNvSpPr txBox="1"/>
          <p:nvPr/>
        </p:nvSpPr>
        <p:spPr>
          <a:xfrm>
            <a:off x="6872630" y="35112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6872630" y="380390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qué herramientas llegas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10368153" y="2468880"/>
            <a:ext cx="1128598" cy="8229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10459593" y="2670048"/>
            <a:ext cx="9457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15'</a:t>
            </a:r>
            <a:endParaRPr lang="en-US" sz="2000" dirty="0"/>
          </a:p>
        </p:txBody>
      </p:sp>
      <p:sp>
        <p:nvSpPr>
          <p:cNvPr id="40" name="Text 37"/>
          <p:cNvSpPr txBox="1"/>
          <p:nvPr/>
        </p:nvSpPr>
        <p:spPr>
          <a:xfrm>
            <a:off x="10368153" y="213969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10:35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10368153" y="4425696"/>
            <a:ext cx="1092022" cy="0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  <a:headEnd type="none"/>
            <a:tailEnd type="none"/>
          </a:ln>
        </p:spPr>
      </p:sp>
      <p:sp>
        <p:nvSpPr>
          <p:cNvPr id="42" name="Text 39"/>
          <p:cNvSpPr txBox="1"/>
          <p:nvPr/>
        </p:nvSpPr>
        <p:spPr>
          <a:xfrm>
            <a:off x="10368153" y="4517136"/>
            <a:ext cx="1165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10368153" y="4809744"/>
            <a:ext cx="11651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paso siguiente</a:t>
            </a:r>
            <a:endParaRPr lang="en-US" sz="1150" dirty="0"/>
          </a:p>
        </p:txBody>
      </p:sp>
      <p:sp>
        <p:nvSpPr>
          <p:cNvPr id="44" name="Text 41"/>
          <p:cNvSpPr txBox="1"/>
          <p:nvPr/>
        </p:nvSpPr>
        <p:spPr>
          <a:xfrm>
            <a:off x="10984687" y="33467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10:50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tpe401-taller-de-proyecto-de-especialidad\clases\semana-01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TPE401 · Taller de Proyecto de Especialidad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ENCUADRE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Este módulo funciona distinto de todos los anteriores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3401568" y="1792224"/>
            <a:ext cx="4020160" cy="457200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21024" y="1865376"/>
            <a:ext cx="365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Módulos anteriores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513168" y="1792224"/>
            <a:ext cx="4020160" cy="4572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32624" y="1865376"/>
            <a:ext cx="365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Este módulo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" y="24505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se aprende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3401568" y="2377440"/>
            <a:ext cx="4020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621024" y="2432304"/>
            <a:ext cx="365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tema: un lenguaje, una base de datos, una técnica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513168" y="2377440"/>
            <a:ext cx="4020160" cy="548640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513168" y="2377440"/>
            <a:ext cx="54864" cy="5486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32624" y="2432304"/>
            <a:ext cx="365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Nada nuevo: se usa lo que ya sabes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658368" y="30906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qué depende la nota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3401568" y="3017520"/>
            <a:ext cx="4020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621024" y="3072384"/>
            <a:ext cx="365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cuánto aprendiste del tema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513168" y="3017520"/>
            <a:ext cx="4020160" cy="548640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513168" y="3017520"/>
            <a:ext cx="54864" cy="5486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732624" y="3072384"/>
            <a:ext cx="365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lo que se construye y se documenta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658368" y="37307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Quién define qué programar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3401568" y="3657600"/>
            <a:ext cx="4020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21024" y="3712464"/>
            <a:ext cx="365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enunciado del ejercicio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513168" y="3657600"/>
            <a:ext cx="4020160" cy="548640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513168" y="3657600"/>
            <a:ext cx="54864" cy="5486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732624" y="3712464"/>
            <a:ext cx="365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Nadie: averiguarlo es parte del trabajo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658368" y="43708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quién es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3401568" y="4297680"/>
            <a:ext cx="4020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3621024" y="4352544"/>
            <a:ext cx="365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el curso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7513168" y="4297680"/>
            <a:ext cx="4020160" cy="548640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513168" y="4297680"/>
            <a:ext cx="54864" cy="5486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732624" y="4352544"/>
            <a:ext cx="365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una organización real</a:t>
            </a:r>
            <a:endParaRPr lang="en-US" sz="1250" dirty="0"/>
          </a:p>
        </p:txBody>
      </p:sp>
      <p:sp>
        <p:nvSpPr>
          <p:cNvPr id="38" name="Text 35"/>
          <p:cNvSpPr txBox="1"/>
          <p:nvPr/>
        </p:nvSpPr>
        <p:spPr>
          <a:xfrm>
            <a:off x="658368" y="50109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es la sesión</a:t>
            </a:r>
            <a:endParaRPr lang="en-US" sz="1250" dirty="0"/>
          </a:p>
        </p:txBody>
      </p:sp>
      <p:sp>
        <p:nvSpPr>
          <p:cNvPr id="39" name="Shape 36"/>
          <p:cNvSpPr/>
          <p:nvPr/>
        </p:nvSpPr>
        <p:spPr>
          <a:xfrm>
            <a:off x="3401568" y="4937760"/>
            <a:ext cx="4020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3621024" y="4992624"/>
            <a:ext cx="365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Exposición del docente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7513168" y="4937760"/>
            <a:ext cx="4020160" cy="548640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513168" y="4937760"/>
            <a:ext cx="54864" cy="5486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732624" y="4992624"/>
            <a:ext cx="365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Taller sobre el proyecto, con el docente como asesor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tpe401-taller-de-proyecto-de-especialidad\clases\semana-01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TPE401 · Taller de Proyecto de Especialidad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EJEMPLO DEL MÓDULO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ferretería de Osorno y su cuaderno de pedidos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658368" y="2011680"/>
            <a:ext cx="2377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2011680"/>
            <a:ext cx="2377440" cy="54864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77824" y="22128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WhatsApp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877824" y="261518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Llegan unos 40 pedidos al día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127248" y="2606040"/>
            <a:ext cx="640080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3858768" y="2011680"/>
            <a:ext cx="2377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858768" y="2011680"/>
            <a:ext cx="2377440" cy="5486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078224" y="22128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Cuaderno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4078224" y="261518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pedido se anota a mano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327648" y="2157984"/>
            <a:ext cx="54864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6967728" y="1792224"/>
            <a:ext cx="4565599" cy="731520"/>
          </a:xfrm>
          <a:prstGeom prst="rect">
            <a:avLst/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114032" y="19202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1883664"/>
            <a:ext cx="374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Pedidos que se pierden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607808" y="2176272"/>
            <a:ext cx="374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Unos tres por semana nunca se preparan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327648" y="3017520"/>
            <a:ext cx="54864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6967728" y="2651760"/>
            <a:ext cx="4565599" cy="731520"/>
          </a:xfrm>
          <a:prstGeom prst="rect">
            <a:avLst/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114032" y="277977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</a:t>
            </a:r>
            <a:endParaRPr lang="en-US" sz="2200" dirty="0"/>
          </a:p>
        </p:txBody>
      </p:sp>
      <p:sp>
        <p:nvSpPr>
          <p:cNvPr id="27" name="Text 24"/>
          <p:cNvSpPr txBox="1"/>
          <p:nvPr/>
        </p:nvSpPr>
        <p:spPr>
          <a:xfrm>
            <a:off x="7607808" y="2743200"/>
            <a:ext cx="374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Bodega a ciegas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607808" y="3035808"/>
            <a:ext cx="374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Nadie sabe qué productos faltan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6327648" y="3877056"/>
            <a:ext cx="54864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6967728" y="3511296"/>
            <a:ext cx="4565599" cy="731520"/>
          </a:xfrm>
          <a:prstGeom prst="rect">
            <a:avLst/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114032" y="363931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</a:t>
            </a:r>
            <a:endParaRPr lang="en-US" sz="2200" dirty="0"/>
          </a:p>
        </p:txBody>
      </p:sp>
      <p:sp>
        <p:nvSpPr>
          <p:cNvPr id="32" name="Text 29"/>
          <p:cNvSpPr txBox="1"/>
          <p:nvPr/>
        </p:nvSpPr>
        <p:spPr>
          <a:xfrm>
            <a:off x="7607808" y="3602736"/>
            <a:ext cx="374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Clientes que llaman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7607808" y="3895344"/>
            <a:ext cx="374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preguntar si su pedido está listo</a:t>
            </a:r>
            <a:endParaRPr lang="en-US" sz="1150" dirty="0"/>
          </a:p>
        </p:txBody>
      </p:sp>
      <p:sp>
        <p:nvSpPr>
          <p:cNvPr id="34" name="Text 31"/>
          <p:cNvSpPr txBox="1"/>
          <p:nvPr/>
        </p:nvSpPr>
        <p:spPr>
          <a:xfrm>
            <a:off x="658368" y="4626864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Este caso aparece en todo el módulo para mostrar cada etapa con algo concreto. Es solo una ilustración: cada proyecto trabaja con su propio desafío.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658368" y="5669280"/>
            <a:ext cx="10874959" cy="5303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50976" y="5715000"/>
            <a:ext cx="1028974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problema no es «no tienen una aplicación»: es que pierden ventas y clientes.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tpe401-taller-de-proyecto-de-especialidad\clases\semana-01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TPE401 · Taller de Proyecto de Especialidad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 SEMANA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diagnóstico inicial de la asignatura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591056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cuestionario que mide con qué conocimientos llegas al módulo.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2286000"/>
            <a:ext cx="25815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286000"/>
            <a:ext cx="2581580" cy="73152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77824" y="252374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FAE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877824" y="2962656"/>
            <a:ext cx="21792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nota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77824" y="3346704"/>
            <a:ext cx="21792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 califica: sirve para saber desde dónde parte cada uno.</a:t>
            </a:r>
            <a:endParaRPr lang="en-US" sz="1180" dirty="0"/>
          </a:p>
        </p:txBody>
      </p:sp>
      <p:sp>
        <p:nvSpPr>
          <p:cNvPr id="16" name="Shape 13"/>
          <p:cNvSpPr/>
          <p:nvPr/>
        </p:nvSpPr>
        <p:spPr>
          <a:xfrm>
            <a:off x="3422828" y="2286000"/>
            <a:ext cx="25815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422828" y="2286000"/>
            <a:ext cx="2581580" cy="73152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642284" y="252374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84B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3642284" y="2962656"/>
            <a:ext cx="21792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tu cuenta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3642284" y="3346704"/>
            <a:ext cx="21792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el momento y el lugar que elijas, dentro del plazo.</a:t>
            </a:r>
            <a:endParaRPr lang="en-US" sz="1180" dirty="0"/>
          </a:p>
        </p:txBody>
      </p:sp>
      <p:sp>
        <p:nvSpPr>
          <p:cNvPr id="21" name="Shape 18"/>
          <p:cNvSpPr/>
          <p:nvPr/>
        </p:nvSpPr>
        <p:spPr>
          <a:xfrm>
            <a:off x="6187288" y="2286000"/>
            <a:ext cx="25815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87288" y="2286000"/>
            <a:ext cx="2581580" cy="731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6744" y="252374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6406744" y="2962656"/>
            <a:ext cx="21792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otra aula virtual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406744" y="3346704"/>
            <a:ext cx="21792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en la del módulo: tiene su propio espacio.</a:t>
            </a:r>
            <a:endParaRPr lang="en-US" sz="1180" dirty="0"/>
          </a:p>
        </p:txBody>
      </p:sp>
      <p:sp>
        <p:nvSpPr>
          <p:cNvPr id="26" name="Shape 23"/>
          <p:cNvSpPr/>
          <p:nvPr/>
        </p:nvSpPr>
        <p:spPr>
          <a:xfrm>
            <a:off x="8951747" y="2286000"/>
            <a:ext cx="25815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951747" y="2286000"/>
            <a:ext cx="2581580" cy="731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171203" y="252374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200" dirty="0"/>
          </a:p>
        </p:txBody>
      </p:sp>
      <p:sp>
        <p:nvSpPr>
          <p:cNvPr id="29" name="Text 26"/>
          <p:cNvSpPr txBox="1"/>
          <p:nvPr/>
        </p:nvSpPr>
        <p:spPr>
          <a:xfrm>
            <a:off x="9171203" y="2962656"/>
            <a:ext cx="21792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Aviso por correo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9171203" y="3346704"/>
            <a:ext cx="21792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plazo y el acceso llegan a tu correo AIEP desde evaluacionesnacionales@aiep.cl</a:t>
            </a:r>
            <a:endParaRPr lang="en-US" sz="1180" dirty="0"/>
          </a:p>
        </p:txBody>
      </p:sp>
      <p:sp>
        <p:nvSpPr>
          <p:cNvPr id="31" name="Shape 28"/>
          <p:cNvSpPr/>
          <p:nvPr/>
        </p:nvSpPr>
        <p:spPr>
          <a:xfrm>
            <a:off x="658368" y="4681728"/>
            <a:ext cx="10874959" cy="713232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32688" y="4736592"/>
            <a:ext cx="1032631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cerrar el plazo puedes revisar tus respuestas junto con las correctas y su justificación: es la primera retroalimentación del módulo.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tpe401-taller-de-proyecto-de-especialidad\clases\semana-01\01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TPE401 · Taller de Proyecto de Especialidad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371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DE 3 · 30 MINUTOS</a:t>
            </a:r>
            <a:endParaRPr lang="en-US" sz="96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810512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se construye</a:t>
            </a:r>
            <a:endParaRPr lang="en-US" sz="4600" dirty="0"/>
          </a:p>
        </p:txBody>
      </p:sp>
      <p:sp>
        <p:nvSpPr>
          <p:cNvPr id="10" name="Shape 7"/>
          <p:cNvSpPr/>
          <p:nvPr/>
        </p:nvSpPr>
        <p:spPr>
          <a:xfrm>
            <a:off x="658368" y="3017520"/>
            <a:ext cx="384048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1" name="Text 8"/>
          <p:cNvSpPr txBox="1"/>
          <p:nvPr/>
        </p:nvSpPr>
        <p:spPr>
          <a:xfrm>
            <a:off x="658368" y="327355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sistema de software para una organización real, las etapas por las que pasa su desarrollo, y el documento que cuenta ese mismo desarrollo por escrito.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58368" y="4846320"/>
            <a:ext cx="3539642" cy="7315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59536" y="4956048"/>
            <a:ext cx="31373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859536" y="5175504"/>
            <a:ext cx="3137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se construye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326026" y="4846320"/>
            <a:ext cx="3539642" cy="731520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27194" y="4956048"/>
            <a:ext cx="31373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4527194" y="5175504"/>
            <a:ext cx="3137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recorrido de diez semanas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7993685" y="4846320"/>
            <a:ext cx="3539642" cy="731520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194853" y="4956048"/>
            <a:ext cx="31373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8194853" y="5175504"/>
            <a:ext cx="3137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qué herramientas llegas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tpe401-taller-de-proyecto-de-especialidad\clases\semana-01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TPE401 · Taller de Proyecto de Especialidad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QUÉ SE CONSTRUYE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 alguien real, no para un enunciado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27632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organización que existe fuera de la sala, tiene un problema concreto y puede decir si el sistema le sirve.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58368" y="2560320"/>
            <a:ext cx="5669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560320"/>
            <a:ext cx="54864" cy="5486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32688" y="2633472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pyme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58368" y="3236976"/>
            <a:ext cx="5669280" cy="548640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8368" y="3236976"/>
            <a:ext cx="54864" cy="5486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32688" y="3310128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institución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58368" y="3913632"/>
            <a:ext cx="5669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68" y="3913632"/>
            <a:ext cx="54864" cy="5486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32688" y="3986784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junta de vecinos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58368" y="4590288"/>
            <a:ext cx="5669280" cy="548640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8368" y="4590288"/>
            <a:ext cx="54864" cy="5486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32688" y="466344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fundación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784848" y="1737360"/>
            <a:ext cx="4748479" cy="35295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114032" y="1993392"/>
            <a:ext cx="41083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CAMBIA</a:t>
            </a:r>
            <a:endParaRPr lang="en-US" sz="960" dirty="0"/>
          </a:p>
        </p:txBody>
      </p:sp>
      <p:sp>
        <p:nvSpPr>
          <p:cNvPr id="25" name="Text 22"/>
          <p:cNvSpPr txBox="1"/>
          <p:nvPr/>
        </p:nvSpPr>
        <p:spPr>
          <a:xfrm>
            <a:off x="7114032" y="2377440"/>
            <a:ext cx="409011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un ejercicio de clase, el enunciado dice qué programar.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7114032" y="3419856"/>
            <a:ext cx="109728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27" name="Text 24"/>
          <p:cNvSpPr txBox="1"/>
          <p:nvPr/>
        </p:nvSpPr>
        <p:spPr>
          <a:xfrm>
            <a:off x="7114032" y="3621024"/>
            <a:ext cx="409011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Aquí nadie lo dice: averiguarlo, y averiguarlo bien, es parte del trabajo.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tpe401-taller-de-proyecto-de-especialidad\clases\semana-01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TPE401 · Taller de Proyecto de Especialidad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EL CICLO DE DESARROLLO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Construir un sistema no empieza programando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920240"/>
            <a:ext cx="16448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658368" y="2523744"/>
            <a:ext cx="1644853" cy="4572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" y="2542032"/>
            <a:ext cx="153512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Descubrimiento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58368" y="3054096"/>
            <a:ext cx="1644853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86384" y="3163824"/>
            <a:ext cx="1388821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está pasando, a quién le afecta y cuánto?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2321509" y="2980944"/>
            <a:ext cx="164592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2504389" y="2377440"/>
            <a:ext cx="16448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4B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3000" dirty="0"/>
          </a:p>
        </p:txBody>
      </p:sp>
      <p:sp>
        <p:nvSpPr>
          <p:cNvPr id="17" name="Shape 14"/>
          <p:cNvSpPr/>
          <p:nvPr/>
        </p:nvSpPr>
        <p:spPr>
          <a:xfrm>
            <a:off x="2504389" y="2980944"/>
            <a:ext cx="1644853" cy="457200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559253" y="2999232"/>
            <a:ext cx="153512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504389" y="3511296"/>
            <a:ext cx="1644853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632405" y="3621024"/>
            <a:ext cx="1388821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va a hacer el sistema y qué no?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4167530" y="2980944"/>
            <a:ext cx="164592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22" name="Text 19"/>
          <p:cNvSpPr txBox="1"/>
          <p:nvPr/>
        </p:nvSpPr>
        <p:spPr>
          <a:xfrm>
            <a:off x="4350410" y="1920240"/>
            <a:ext cx="16448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3000" dirty="0"/>
          </a:p>
        </p:txBody>
      </p:sp>
      <p:sp>
        <p:nvSpPr>
          <p:cNvPr id="23" name="Shape 20"/>
          <p:cNvSpPr/>
          <p:nvPr/>
        </p:nvSpPr>
        <p:spPr>
          <a:xfrm>
            <a:off x="4350410" y="2523744"/>
            <a:ext cx="1644853" cy="45720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405274" y="2542032"/>
            <a:ext cx="153512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Planificación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350410" y="3054096"/>
            <a:ext cx="1644853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478426" y="3163824"/>
            <a:ext cx="1388821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¿Con qué recursos, en cuánto tiempo, cuánto cuesta y quién hace qué?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013552" y="2980944"/>
            <a:ext cx="164592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28" name="Text 25"/>
          <p:cNvSpPr txBox="1"/>
          <p:nvPr/>
        </p:nvSpPr>
        <p:spPr>
          <a:xfrm>
            <a:off x="6196432" y="2377440"/>
            <a:ext cx="16448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AE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3000" dirty="0"/>
          </a:p>
        </p:txBody>
      </p:sp>
      <p:sp>
        <p:nvSpPr>
          <p:cNvPr id="29" name="Shape 26"/>
          <p:cNvSpPr/>
          <p:nvPr/>
        </p:nvSpPr>
        <p:spPr>
          <a:xfrm>
            <a:off x="6196432" y="2980944"/>
            <a:ext cx="1644853" cy="457200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251296" y="2999232"/>
            <a:ext cx="153512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196432" y="3511296"/>
            <a:ext cx="1644853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324448" y="3621024"/>
            <a:ext cx="1388821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valor entrega y cómo se organiza por dentro?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7859573" y="2980944"/>
            <a:ext cx="164592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34" name="Text 31"/>
          <p:cNvSpPr txBox="1"/>
          <p:nvPr/>
        </p:nvSpPr>
        <p:spPr>
          <a:xfrm>
            <a:off x="8042453" y="1920240"/>
            <a:ext cx="16448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3000" dirty="0"/>
          </a:p>
        </p:txBody>
      </p:sp>
      <p:sp>
        <p:nvSpPr>
          <p:cNvPr id="35" name="Shape 32"/>
          <p:cNvSpPr/>
          <p:nvPr/>
        </p:nvSpPr>
        <p:spPr>
          <a:xfrm>
            <a:off x="8042453" y="2523744"/>
            <a:ext cx="1644853" cy="4572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097317" y="2542032"/>
            <a:ext cx="153512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Construcción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8042453" y="3054096"/>
            <a:ext cx="1644853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170469" y="3163824"/>
            <a:ext cx="1388821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¿Funciona lo que se diseñó?</a:t>
            </a:r>
            <a:endParaRPr lang="en-US" sz="1250" dirty="0"/>
          </a:p>
        </p:txBody>
      </p:sp>
      <p:sp>
        <p:nvSpPr>
          <p:cNvPr id="39" name="Shape 36"/>
          <p:cNvSpPr/>
          <p:nvPr/>
        </p:nvSpPr>
        <p:spPr>
          <a:xfrm>
            <a:off x="9705594" y="2980944"/>
            <a:ext cx="164592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40" name="Text 37"/>
          <p:cNvSpPr txBox="1"/>
          <p:nvPr/>
        </p:nvSpPr>
        <p:spPr>
          <a:xfrm>
            <a:off x="9888474" y="2377440"/>
            <a:ext cx="16448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260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3000" dirty="0"/>
          </a:p>
        </p:txBody>
      </p:sp>
      <p:sp>
        <p:nvSpPr>
          <p:cNvPr id="41" name="Shape 38"/>
          <p:cNvSpPr/>
          <p:nvPr/>
        </p:nvSpPr>
        <p:spPr>
          <a:xfrm>
            <a:off x="9888474" y="2980944"/>
            <a:ext cx="1644853" cy="457200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9943338" y="2999232"/>
            <a:ext cx="153512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Puesta en marcha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9888474" y="3511296"/>
            <a:ext cx="1644853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0016490" y="3621024"/>
            <a:ext cx="1388821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¿Lo usan las personas para las que se hizo?</a:t>
            </a:r>
            <a:endParaRPr lang="en-US" sz="1250" dirty="0"/>
          </a:p>
        </p:txBody>
      </p:sp>
      <p:sp>
        <p:nvSpPr>
          <p:cNvPr id="45" name="Shape 42"/>
          <p:cNvSpPr/>
          <p:nvPr/>
        </p:nvSpPr>
        <p:spPr>
          <a:xfrm>
            <a:off x="658368" y="5632704"/>
            <a:ext cx="10874959" cy="5303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50976" y="5678424"/>
            <a:ext cx="1028974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etapa responde una pregunta distinta, y la siguiente depende de la respuesta de la anterior.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tpe401-taller-de-proyecto-de-especialidad\clases\semana-01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TPE401 · Taller de Proyecto de Especialidad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EL CICLO EN EL EJEMPLO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ferretería, etapa por etapa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658368" y="1773936"/>
            <a:ext cx="1920240" cy="10607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13232" y="1792224"/>
            <a:ext cx="18105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Descubrimiento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78608" y="1773936"/>
            <a:ext cx="333436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816352" y="1865376"/>
            <a:ext cx="291373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Analizar el caso y fuentes, explicitar supuestos; entrevistar si se habilita el contacto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58368" y="3017520"/>
            <a:ext cx="1920240" cy="1060704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13232" y="3035808"/>
            <a:ext cx="18105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2578608" y="3017520"/>
            <a:ext cx="333436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816352" y="3108960"/>
            <a:ext cx="291373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y seguir pedidos, sí. Controlar la bodega, no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" y="4261104"/>
            <a:ext cx="1920240" cy="10607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13232" y="4279392"/>
            <a:ext cx="18105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Planificación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2578608" y="4261104"/>
            <a:ext cx="333436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816352" y="4352544"/>
            <a:ext cx="291373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servidor, un computador para el mesón, ocho semanas y un responsable por tarea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278728" y="1773936"/>
            <a:ext cx="1920240" cy="1060704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333592" y="1792224"/>
            <a:ext cx="18105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8198968" y="1773936"/>
            <a:ext cx="333436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436712" y="1865376"/>
            <a:ext cx="291373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el cliente sepa cuándo está listo su pedido sin tener que llamar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278728" y="3017520"/>
            <a:ext cx="1920240" cy="10607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333592" y="3035808"/>
            <a:ext cx="18105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Construcción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8198968" y="3017520"/>
            <a:ext cx="333436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436712" y="3108960"/>
            <a:ext cx="291373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Programar el registro de pedidos y probarlo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278728" y="4261104"/>
            <a:ext cx="1920240" cy="1060704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333592" y="4279392"/>
            <a:ext cx="18105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Puesta en marcha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8198968" y="4261104"/>
            <a:ext cx="333436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436712" y="4352544"/>
            <a:ext cx="291373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Instalar y probar en un entorno de demostración; en el mesón si se habilita el acceso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658368" y="5669280"/>
            <a:ext cx="45720" cy="18288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04672" y="5660136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cifras de la ferretería son ilustrativas: muestran el tipo de dato que cada etapa necesita.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tpe401-taller-de-proyecto-de-especialidad\clases\semana-01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TPE401 · Taller de Proyecto de Especialidad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NO ES UNA INVENCIÓN DEL MÓDULO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perfil de egreso describe ese mismo ciclo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27632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perfil de egreso es lo que la carrera se compromete a que sepas hacer al titularte.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103120"/>
            <a:ext cx="10874959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103120"/>
            <a:ext cx="73152" cy="18288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42416" y="2267712"/>
            <a:ext cx="1010686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«…preparado/a para realizar el ciclo de desarrollo de software, incorporando en ello el análisis de requerimientos, diseño, construcción, pruebas e implementación de soluciones.»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1042416" y="3584448"/>
            <a:ext cx="1010686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Técnico de Nivel Superior en Programación y Análisis de Sistemas · perfil profesional de la malla de la carrera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83053" y="4224528"/>
            <a:ext cx="175153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284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«análisis de requerimientos»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6132424" y="4224528"/>
            <a:ext cx="175153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«diseño»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7957109" y="4224528"/>
            <a:ext cx="175153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«construcción, pruebas»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9781794" y="4224528"/>
            <a:ext cx="175153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«implementación»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58368" y="4700016"/>
            <a:ext cx="1751533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13232" y="4718304"/>
            <a:ext cx="16418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Descubrimiento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2483053" y="4700016"/>
            <a:ext cx="1751533" cy="420624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537917" y="4718304"/>
            <a:ext cx="16418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307738" y="4700016"/>
            <a:ext cx="1751533" cy="42062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362602" y="4718304"/>
            <a:ext cx="16418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Planificación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132424" y="4700016"/>
            <a:ext cx="1751533" cy="420624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187288" y="4718304"/>
            <a:ext cx="16418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957109" y="4700016"/>
            <a:ext cx="1751533" cy="4206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011973" y="4718304"/>
            <a:ext cx="16418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Construcción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9781794" y="4700016"/>
            <a:ext cx="1751533" cy="420624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836658" y="4718304"/>
            <a:ext cx="16418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Puesta en marcha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658368" y="5340096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Este módulo es el lugar donde ese ciclo se recorre completo, por primera vez, sobre un caso real.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tpe401-taller-de-proyecto-de-especialidad\clases\semana-01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TPE401 · Taller de Proyecto de Especialidad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LA PROPUESTA DE PROYECTO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Antes de construirse, un sistema se aprueba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4358488" y="2852928"/>
            <a:ext cx="3474720" cy="13716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41368" y="296265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Quien decide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41368" y="3328416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dueño de la ferretería, un jefe, un fondo público. No lee código.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58368" y="1792224"/>
            <a:ext cx="32918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368" y="1792224"/>
            <a:ext cx="64008" cy="841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32688" y="1956816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problema hay?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3968496" y="3108960"/>
            <a:ext cx="335128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headEnd type="none"/>
            <a:tailEnd type="none"/>
          </a:ln>
        </p:spPr>
      </p:sp>
      <p:sp>
        <p:nvSpPr>
          <p:cNvPr id="17" name="Shape 14"/>
          <p:cNvSpPr/>
          <p:nvPr/>
        </p:nvSpPr>
        <p:spPr>
          <a:xfrm>
            <a:off x="8241487" y="1792224"/>
            <a:ext cx="32918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41487" y="1792224"/>
            <a:ext cx="64008" cy="841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515807" y="1956816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se propone?</a:t>
            </a:r>
            <a:endParaRPr lang="en-US" sz="1900" dirty="0"/>
          </a:p>
        </p:txBody>
      </p:sp>
      <p:sp>
        <p:nvSpPr>
          <p:cNvPr id="20" name="Shape 17"/>
          <p:cNvSpPr/>
          <p:nvPr/>
        </p:nvSpPr>
        <p:spPr>
          <a:xfrm>
            <a:off x="7851496" y="3108960"/>
            <a:ext cx="353416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headEnd type="none"/>
            <a:tailEnd type="none"/>
          </a:ln>
        </p:spPr>
      </p:sp>
      <p:sp>
        <p:nvSpPr>
          <p:cNvPr id="21" name="Shape 18"/>
          <p:cNvSpPr/>
          <p:nvPr/>
        </p:nvSpPr>
        <p:spPr>
          <a:xfrm>
            <a:off x="658368" y="4261104"/>
            <a:ext cx="32918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8368" y="4261104"/>
            <a:ext cx="64008" cy="841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32688" y="4425696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¿Cuánto cuesta?</a:t>
            </a:r>
            <a:endParaRPr lang="en-US" sz="1900" dirty="0"/>
          </a:p>
        </p:txBody>
      </p:sp>
      <p:sp>
        <p:nvSpPr>
          <p:cNvPr id="24" name="Shape 21"/>
          <p:cNvSpPr/>
          <p:nvPr/>
        </p:nvSpPr>
        <p:spPr>
          <a:xfrm>
            <a:off x="3968496" y="3986784"/>
            <a:ext cx="335128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headEnd type="none"/>
            <a:tailEnd type="none"/>
          </a:ln>
        </p:spPr>
      </p:sp>
      <p:sp>
        <p:nvSpPr>
          <p:cNvPr id="25" name="Shape 22"/>
          <p:cNvSpPr/>
          <p:nvPr/>
        </p:nvSpPr>
        <p:spPr>
          <a:xfrm>
            <a:off x="8241487" y="4261104"/>
            <a:ext cx="32918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241487" y="4261104"/>
            <a:ext cx="64008" cy="841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515807" y="4425696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se gana?</a:t>
            </a:r>
            <a:endParaRPr lang="en-US" sz="1900" dirty="0"/>
          </a:p>
        </p:txBody>
      </p:sp>
      <p:sp>
        <p:nvSpPr>
          <p:cNvPr id="28" name="Shape 25"/>
          <p:cNvSpPr/>
          <p:nvPr/>
        </p:nvSpPr>
        <p:spPr>
          <a:xfrm>
            <a:off x="7851496" y="3986784"/>
            <a:ext cx="353416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headEnd type="none"/>
            <a:tailEnd type="none"/>
          </a:ln>
        </p:spPr>
      </p:sp>
      <p:sp>
        <p:nvSpPr>
          <p:cNvPr id="29" name="Shape 26"/>
          <p:cNvSpPr/>
          <p:nvPr/>
        </p:nvSpPr>
        <p:spPr>
          <a:xfrm>
            <a:off x="658368" y="5541264"/>
            <a:ext cx="10874959" cy="5303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50976" y="5586984"/>
            <a:ext cx="1028974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documento que responde esas cuatro preguntas se llama propuesta de proyecto.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tpe401-taller-de-proyecto-de-especialidad\clases\semana-01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TPE401 · Taller de Proyecto de Especialidad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LAS PARTES DE LA PROPUESTA · 1 DE 2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Entender el problema y fijar el alcance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0078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PARTE</a:t>
            </a:r>
            <a:endParaRPr lang="en-US" sz="960" dirty="0"/>
          </a:p>
        </p:txBody>
      </p:sp>
      <p:sp>
        <p:nvSpPr>
          <p:cNvPr id="11" name="Text 8"/>
          <p:cNvSpPr txBox="1"/>
          <p:nvPr/>
        </p:nvSpPr>
        <p:spPr>
          <a:xfrm>
            <a:off x="3730752" y="17007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RESPONDE</a:t>
            </a:r>
            <a:endParaRPr lang="en-US" sz="960" dirty="0"/>
          </a:p>
        </p:txBody>
      </p:sp>
      <p:sp>
        <p:nvSpPr>
          <p:cNvPr id="12" name="Text 9"/>
          <p:cNvSpPr txBox="1"/>
          <p:nvPr/>
        </p:nvSpPr>
        <p:spPr>
          <a:xfrm>
            <a:off x="7443216" y="17007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ETAPA</a:t>
            </a:r>
            <a:endParaRPr lang="en-US" sz="960" dirty="0"/>
          </a:p>
        </p:txBody>
      </p:sp>
      <p:sp>
        <p:nvSpPr>
          <p:cNvPr id="13" name="Text 10"/>
          <p:cNvSpPr txBox="1"/>
          <p:nvPr/>
        </p:nvSpPr>
        <p:spPr>
          <a:xfrm>
            <a:off x="9418320" y="1700784"/>
            <a:ext cx="21150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</a:t>
            </a:r>
            <a:endParaRPr lang="en-US" sz="960" dirty="0"/>
          </a:p>
        </p:txBody>
      </p:sp>
      <p:sp>
        <p:nvSpPr>
          <p:cNvPr id="14" name="Shape 11"/>
          <p:cNvSpPr/>
          <p:nvPr/>
        </p:nvSpPr>
        <p:spPr>
          <a:xfrm>
            <a:off x="658368" y="2011680"/>
            <a:ext cx="2926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8368" y="2011680"/>
            <a:ext cx="54864" cy="5669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59536" y="2048256"/>
            <a:ext cx="26151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Diagnóstico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3730752" y="2048256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funciona hoy; datos y supuestos diferenciados</a:t>
            </a:r>
            <a:endParaRPr lang="en-US" sz="1180" dirty="0"/>
          </a:p>
        </p:txBody>
      </p:sp>
      <p:sp>
        <p:nvSpPr>
          <p:cNvPr id="18" name="Shape 15"/>
          <p:cNvSpPr/>
          <p:nvPr/>
        </p:nvSpPr>
        <p:spPr>
          <a:xfrm>
            <a:off x="7443216" y="2084832"/>
            <a:ext cx="182880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0" y="210312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Descubrimiento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9418320" y="2048256"/>
            <a:ext cx="211500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 pedidos al día: supuesto por validar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658368" y="2670048"/>
            <a:ext cx="2926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8368" y="2670048"/>
            <a:ext cx="54864" cy="5669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59536" y="2706624"/>
            <a:ext cx="26151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Fundamentación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3730752" y="2706624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qué vale la pena resolverlo</a:t>
            </a:r>
            <a:endParaRPr lang="en-US" sz="1180" dirty="0"/>
          </a:p>
        </p:txBody>
      </p:sp>
      <p:sp>
        <p:nvSpPr>
          <p:cNvPr id="25" name="Shape 22"/>
          <p:cNvSpPr/>
          <p:nvPr/>
        </p:nvSpPr>
        <p:spPr>
          <a:xfrm>
            <a:off x="7443216" y="2743200"/>
            <a:ext cx="1828800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498080" y="2761488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Descubrimiento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9418320" y="2706624"/>
            <a:ext cx="211500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pedido perdido es una venta perdida</a:t>
            </a:r>
            <a:endParaRPr lang="en-US" sz="1080" dirty="0"/>
          </a:p>
        </p:txBody>
      </p:sp>
      <p:sp>
        <p:nvSpPr>
          <p:cNvPr id="28" name="Shape 25"/>
          <p:cNvSpPr/>
          <p:nvPr/>
        </p:nvSpPr>
        <p:spPr>
          <a:xfrm>
            <a:off x="658368" y="3328416"/>
            <a:ext cx="2926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58368" y="3328416"/>
            <a:ext cx="54864" cy="56692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59536" y="3364992"/>
            <a:ext cx="26151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Definición y delimitación</a:t>
            </a:r>
            <a:endParaRPr lang="en-US" sz="1350" dirty="0"/>
          </a:p>
        </p:txBody>
      </p:sp>
      <p:sp>
        <p:nvSpPr>
          <p:cNvPr id="31" name="Text 28"/>
          <p:cNvSpPr txBox="1"/>
          <p:nvPr/>
        </p:nvSpPr>
        <p:spPr>
          <a:xfrm>
            <a:off x="3730752" y="3364992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parte del problema se resuelve y qué queda fuera</a:t>
            </a:r>
            <a:endParaRPr lang="en-US" sz="1180" dirty="0"/>
          </a:p>
        </p:txBody>
      </p:sp>
      <p:sp>
        <p:nvSpPr>
          <p:cNvPr id="32" name="Shape 29"/>
          <p:cNvSpPr/>
          <p:nvPr/>
        </p:nvSpPr>
        <p:spPr>
          <a:xfrm>
            <a:off x="7443216" y="3401568"/>
            <a:ext cx="1828800" cy="420624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498080" y="3419856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9418320" y="3364992"/>
            <a:ext cx="211500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Pedidos sí; bodega no</a:t>
            </a:r>
            <a:endParaRPr lang="en-US" sz="1080" dirty="0"/>
          </a:p>
        </p:txBody>
      </p:sp>
      <p:sp>
        <p:nvSpPr>
          <p:cNvPr id="35" name="Shape 32"/>
          <p:cNvSpPr/>
          <p:nvPr/>
        </p:nvSpPr>
        <p:spPr>
          <a:xfrm>
            <a:off x="658368" y="3986784"/>
            <a:ext cx="2926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58368" y="3986784"/>
            <a:ext cx="54864" cy="56692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59536" y="4023360"/>
            <a:ext cx="26151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Objetivos</a:t>
            </a:r>
            <a:endParaRPr lang="en-US" sz="1350" dirty="0"/>
          </a:p>
        </p:txBody>
      </p:sp>
      <p:sp>
        <p:nvSpPr>
          <p:cNvPr id="38" name="Text 35"/>
          <p:cNvSpPr txBox="1"/>
          <p:nvPr/>
        </p:nvSpPr>
        <p:spPr>
          <a:xfrm>
            <a:off x="3730752" y="4023360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tiene que lograr el sistema, de forma comprobable</a:t>
            </a:r>
            <a:endParaRPr lang="en-US" sz="1180" dirty="0"/>
          </a:p>
        </p:txBody>
      </p:sp>
      <p:sp>
        <p:nvSpPr>
          <p:cNvPr id="39" name="Shape 36"/>
          <p:cNvSpPr/>
          <p:nvPr/>
        </p:nvSpPr>
        <p:spPr>
          <a:xfrm>
            <a:off x="7443216" y="4059936"/>
            <a:ext cx="1828800" cy="420624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498080" y="4078224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</a:t>
            </a:r>
            <a:endParaRPr lang="en-US" sz="1050" dirty="0"/>
          </a:p>
        </p:txBody>
      </p:sp>
      <p:sp>
        <p:nvSpPr>
          <p:cNvPr id="41" name="Text 38"/>
          <p:cNvSpPr txBox="1"/>
          <p:nvPr/>
        </p:nvSpPr>
        <p:spPr>
          <a:xfrm>
            <a:off x="9418320" y="4023360"/>
            <a:ext cx="211500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el 100 % de los pedidos del primer mes</a:t>
            </a:r>
            <a:endParaRPr lang="en-US" sz="1080" dirty="0"/>
          </a:p>
        </p:txBody>
      </p:sp>
      <p:sp>
        <p:nvSpPr>
          <p:cNvPr id="42" name="Shape 39"/>
          <p:cNvSpPr/>
          <p:nvPr/>
        </p:nvSpPr>
        <p:spPr>
          <a:xfrm>
            <a:off x="658368" y="4645152"/>
            <a:ext cx="2926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58368" y="4645152"/>
            <a:ext cx="54864" cy="56692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59536" y="4681728"/>
            <a:ext cx="26151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Impacto esperado</a:t>
            </a:r>
            <a:endParaRPr lang="en-US" sz="1350" dirty="0"/>
          </a:p>
        </p:txBody>
      </p:sp>
      <p:sp>
        <p:nvSpPr>
          <p:cNvPr id="45" name="Text 42"/>
          <p:cNvSpPr txBox="1"/>
          <p:nvPr/>
        </p:nvSpPr>
        <p:spPr>
          <a:xfrm>
            <a:off x="3730752" y="4681728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se va a medir si sirvió</a:t>
            </a:r>
            <a:endParaRPr lang="en-US" sz="1180" dirty="0"/>
          </a:p>
        </p:txBody>
      </p:sp>
      <p:sp>
        <p:nvSpPr>
          <p:cNvPr id="46" name="Shape 43"/>
          <p:cNvSpPr/>
          <p:nvPr/>
        </p:nvSpPr>
        <p:spPr>
          <a:xfrm>
            <a:off x="7443216" y="4718304"/>
            <a:ext cx="1828800" cy="420624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498080" y="4736592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</a:t>
            </a:r>
            <a:endParaRPr lang="en-US" sz="1050" dirty="0"/>
          </a:p>
        </p:txBody>
      </p:sp>
      <p:sp>
        <p:nvSpPr>
          <p:cNvPr id="48" name="Text 45"/>
          <p:cNvSpPr txBox="1"/>
          <p:nvPr/>
        </p:nvSpPr>
        <p:spPr>
          <a:xfrm>
            <a:off x="9418320" y="4681728"/>
            <a:ext cx="211500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Pedidos perdidos por semana: de 3 a 0</a:t>
            </a:r>
            <a:endParaRPr lang="en-US" sz="1080" dirty="0"/>
          </a:p>
        </p:txBody>
      </p:sp>
      <p:sp>
        <p:nvSpPr>
          <p:cNvPr id="49" name="Shape 46"/>
          <p:cNvSpPr/>
          <p:nvPr/>
        </p:nvSpPr>
        <p:spPr>
          <a:xfrm>
            <a:off x="658368" y="5303520"/>
            <a:ext cx="2926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58368" y="5303520"/>
            <a:ext cx="54864" cy="56692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859536" y="5340096"/>
            <a:ext cx="26151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 esperado</a:t>
            </a:r>
            <a:endParaRPr lang="en-US" sz="1350" dirty="0"/>
          </a:p>
        </p:txBody>
      </p:sp>
      <p:sp>
        <p:nvSpPr>
          <p:cNvPr id="52" name="Text 49"/>
          <p:cNvSpPr txBox="1"/>
          <p:nvPr/>
        </p:nvSpPr>
        <p:spPr>
          <a:xfrm>
            <a:off x="3730752" y="5340096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se va a construir concretamente</a:t>
            </a:r>
            <a:endParaRPr lang="en-US" sz="1180" dirty="0"/>
          </a:p>
        </p:txBody>
      </p:sp>
      <p:sp>
        <p:nvSpPr>
          <p:cNvPr id="53" name="Shape 50"/>
          <p:cNvSpPr/>
          <p:nvPr/>
        </p:nvSpPr>
        <p:spPr>
          <a:xfrm>
            <a:off x="7443216" y="5376672"/>
            <a:ext cx="1828800" cy="420624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7498080" y="539496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</a:t>
            </a:r>
            <a:endParaRPr lang="en-US" sz="1050" dirty="0"/>
          </a:p>
        </p:txBody>
      </p:sp>
      <p:sp>
        <p:nvSpPr>
          <p:cNvPr id="55" name="Text 52"/>
          <p:cNvSpPr txBox="1"/>
          <p:nvPr/>
        </p:nvSpPr>
        <p:spPr>
          <a:xfrm>
            <a:off x="9418320" y="5340096"/>
            <a:ext cx="211500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aplicación web de pedidos</a:t>
            </a:r>
            <a:endParaRPr lang="en-US" sz="10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tpe401-taller-de-proyecto-de-especialidad\clases\semana-01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TPE401 · Taller de Proyecto de Especialidad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LAS PARTES DE LA PROPUESTA · 2 DE 2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Planificar, diseñar y construir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0078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PARTE</a:t>
            </a:r>
            <a:endParaRPr lang="en-US" sz="960" dirty="0"/>
          </a:p>
        </p:txBody>
      </p:sp>
      <p:sp>
        <p:nvSpPr>
          <p:cNvPr id="11" name="Text 8"/>
          <p:cNvSpPr txBox="1"/>
          <p:nvPr/>
        </p:nvSpPr>
        <p:spPr>
          <a:xfrm>
            <a:off x="3730752" y="17007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RESPONDE</a:t>
            </a:r>
            <a:endParaRPr lang="en-US" sz="960" dirty="0"/>
          </a:p>
        </p:txBody>
      </p:sp>
      <p:sp>
        <p:nvSpPr>
          <p:cNvPr id="12" name="Text 9"/>
          <p:cNvSpPr txBox="1"/>
          <p:nvPr/>
        </p:nvSpPr>
        <p:spPr>
          <a:xfrm>
            <a:off x="7443216" y="17007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ETAPA</a:t>
            </a:r>
            <a:endParaRPr lang="en-US" sz="960" dirty="0"/>
          </a:p>
        </p:txBody>
      </p:sp>
      <p:sp>
        <p:nvSpPr>
          <p:cNvPr id="13" name="Text 10"/>
          <p:cNvSpPr txBox="1"/>
          <p:nvPr/>
        </p:nvSpPr>
        <p:spPr>
          <a:xfrm>
            <a:off x="9418320" y="1700784"/>
            <a:ext cx="21150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</a:t>
            </a:r>
            <a:endParaRPr lang="en-US" sz="960" dirty="0"/>
          </a:p>
        </p:txBody>
      </p:sp>
      <p:sp>
        <p:nvSpPr>
          <p:cNvPr id="14" name="Shape 11"/>
          <p:cNvSpPr/>
          <p:nvPr/>
        </p:nvSpPr>
        <p:spPr>
          <a:xfrm>
            <a:off x="658368" y="2011680"/>
            <a:ext cx="2926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8368" y="2011680"/>
            <a:ext cx="54864" cy="5669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59536" y="2048256"/>
            <a:ext cx="26151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Recursos y presupuesto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3730752" y="2048256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se necesita y cuánto cuesta, con precios</a:t>
            </a:r>
            <a:endParaRPr lang="en-US" sz="1180" dirty="0"/>
          </a:p>
        </p:txBody>
      </p:sp>
      <p:sp>
        <p:nvSpPr>
          <p:cNvPr id="18" name="Shape 15"/>
          <p:cNvSpPr/>
          <p:nvPr/>
        </p:nvSpPr>
        <p:spPr>
          <a:xfrm>
            <a:off x="7443216" y="2084832"/>
            <a:ext cx="1828800" cy="42062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0" y="210312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Planificación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9418320" y="2048256"/>
            <a:ext cx="211500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Servidor, computador y horas de trabajo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658368" y="2670048"/>
            <a:ext cx="2926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8368" y="2670048"/>
            <a:ext cx="54864" cy="5669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59536" y="2706624"/>
            <a:ext cx="26151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Carta Gantt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3730752" y="2706624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se hace en cada semana</a:t>
            </a:r>
            <a:endParaRPr lang="en-US" sz="1180" dirty="0"/>
          </a:p>
        </p:txBody>
      </p:sp>
      <p:sp>
        <p:nvSpPr>
          <p:cNvPr id="25" name="Shape 22"/>
          <p:cNvSpPr/>
          <p:nvPr/>
        </p:nvSpPr>
        <p:spPr>
          <a:xfrm>
            <a:off x="7443216" y="2743200"/>
            <a:ext cx="1828800" cy="42062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498080" y="2761488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Planificación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9418320" y="2706624"/>
            <a:ext cx="211500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 de pedidos en las semanas 6 y 7</a:t>
            </a:r>
            <a:endParaRPr lang="en-US" sz="1080" dirty="0"/>
          </a:p>
        </p:txBody>
      </p:sp>
      <p:sp>
        <p:nvSpPr>
          <p:cNvPr id="28" name="Shape 25"/>
          <p:cNvSpPr/>
          <p:nvPr/>
        </p:nvSpPr>
        <p:spPr>
          <a:xfrm>
            <a:off x="658368" y="3328416"/>
            <a:ext cx="2926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58368" y="3328416"/>
            <a:ext cx="54864" cy="5669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59536" y="3364992"/>
            <a:ext cx="26151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Organización</a:t>
            </a:r>
            <a:endParaRPr lang="en-US" sz="1350" dirty="0"/>
          </a:p>
        </p:txBody>
      </p:sp>
      <p:sp>
        <p:nvSpPr>
          <p:cNvPr id="31" name="Text 28"/>
          <p:cNvSpPr txBox="1"/>
          <p:nvPr/>
        </p:nvSpPr>
        <p:spPr>
          <a:xfrm>
            <a:off x="3730752" y="3364992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Quién es responsable de cada actividad</a:t>
            </a:r>
            <a:endParaRPr lang="en-US" sz="1180" dirty="0"/>
          </a:p>
        </p:txBody>
      </p:sp>
      <p:sp>
        <p:nvSpPr>
          <p:cNvPr id="32" name="Shape 29"/>
          <p:cNvSpPr/>
          <p:nvPr/>
        </p:nvSpPr>
        <p:spPr>
          <a:xfrm>
            <a:off x="7443216" y="3401568"/>
            <a:ext cx="1828800" cy="42062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498080" y="3419856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Planificación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9418320" y="3364992"/>
            <a:ext cx="211500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persona en entrevistas; otra en la base de datos</a:t>
            </a:r>
            <a:endParaRPr lang="en-US" sz="1080" dirty="0"/>
          </a:p>
        </p:txBody>
      </p:sp>
      <p:sp>
        <p:nvSpPr>
          <p:cNvPr id="35" name="Shape 32"/>
          <p:cNvSpPr/>
          <p:nvPr/>
        </p:nvSpPr>
        <p:spPr>
          <a:xfrm>
            <a:off x="658368" y="3986784"/>
            <a:ext cx="2926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58368" y="3986784"/>
            <a:ext cx="54864" cy="5669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59536" y="4023360"/>
            <a:ext cx="26151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Elevator Pitch</a:t>
            </a:r>
            <a:endParaRPr lang="en-US" sz="1350" dirty="0"/>
          </a:p>
        </p:txBody>
      </p:sp>
      <p:sp>
        <p:nvSpPr>
          <p:cNvPr id="38" name="Text 35"/>
          <p:cNvSpPr txBox="1"/>
          <p:nvPr/>
        </p:nvSpPr>
        <p:spPr>
          <a:xfrm>
            <a:off x="3730752" y="4023360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proyecto explicado en 90 segundos</a:t>
            </a:r>
            <a:endParaRPr lang="en-US" sz="1180" dirty="0"/>
          </a:p>
        </p:txBody>
      </p:sp>
      <p:sp>
        <p:nvSpPr>
          <p:cNvPr id="39" name="Shape 36"/>
          <p:cNvSpPr/>
          <p:nvPr/>
        </p:nvSpPr>
        <p:spPr>
          <a:xfrm>
            <a:off x="7443216" y="4059936"/>
            <a:ext cx="1828800" cy="42062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498080" y="4078224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Planificación</a:t>
            </a:r>
            <a:endParaRPr lang="en-US" sz="1050" dirty="0"/>
          </a:p>
        </p:txBody>
      </p:sp>
      <p:sp>
        <p:nvSpPr>
          <p:cNvPr id="41" name="Text 38"/>
          <p:cNvSpPr txBox="1"/>
          <p:nvPr/>
        </p:nvSpPr>
        <p:spPr>
          <a:xfrm>
            <a:off x="9418320" y="4023360"/>
            <a:ext cx="211500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«Ayudamos a ferreterías de barrio a no perder ni una venta…»</a:t>
            </a:r>
            <a:endParaRPr lang="en-US" sz="1080" dirty="0"/>
          </a:p>
        </p:txBody>
      </p:sp>
      <p:sp>
        <p:nvSpPr>
          <p:cNvPr id="42" name="Shape 39"/>
          <p:cNvSpPr/>
          <p:nvPr/>
        </p:nvSpPr>
        <p:spPr>
          <a:xfrm>
            <a:off x="658368" y="4645152"/>
            <a:ext cx="2926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58368" y="4645152"/>
            <a:ext cx="54864" cy="566928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59536" y="4681728"/>
            <a:ext cx="26151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Lienzo Canvas</a:t>
            </a:r>
            <a:endParaRPr lang="en-US" sz="1350" dirty="0"/>
          </a:p>
        </p:txBody>
      </p:sp>
      <p:sp>
        <p:nvSpPr>
          <p:cNvPr id="45" name="Text 42"/>
          <p:cNvSpPr txBox="1"/>
          <p:nvPr/>
        </p:nvSpPr>
        <p:spPr>
          <a:xfrm>
            <a:off x="3730752" y="4681728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proyecto visto como negocio: a quién sirve, qué valor entrega, qué cuesta</a:t>
            </a:r>
            <a:endParaRPr lang="en-US" sz="1180" dirty="0"/>
          </a:p>
        </p:txBody>
      </p:sp>
      <p:sp>
        <p:nvSpPr>
          <p:cNvPr id="46" name="Shape 43"/>
          <p:cNvSpPr/>
          <p:nvPr/>
        </p:nvSpPr>
        <p:spPr>
          <a:xfrm>
            <a:off x="7443216" y="4718304"/>
            <a:ext cx="1828800" cy="420624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498080" y="4736592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</a:t>
            </a:r>
            <a:endParaRPr lang="en-US" sz="1050" dirty="0"/>
          </a:p>
        </p:txBody>
      </p:sp>
      <p:sp>
        <p:nvSpPr>
          <p:cNvPr id="48" name="Text 45"/>
          <p:cNvSpPr txBox="1"/>
          <p:nvPr/>
        </p:nvSpPr>
        <p:spPr>
          <a:xfrm>
            <a:off x="9418320" y="4681728"/>
            <a:ext cx="211500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quién es y cuánto cuesta mantenerlo</a:t>
            </a:r>
            <a:endParaRPr lang="en-US" sz="1080" dirty="0"/>
          </a:p>
        </p:txBody>
      </p:sp>
      <p:sp>
        <p:nvSpPr>
          <p:cNvPr id="49" name="Shape 46"/>
          <p:cNvSpPr/>
          <p:nvPr/>
        </p:nvSpPr>
        <p:spPr>
          <a:xfrm>
            <a:off x="658368" y="5303520"/>
            <a:ext cx="2926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58368" y="5303520"/>
            <a:ext cx="54864" cy="5669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859536" y="5340096"/>
            <a:ext cx="26151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Cadena de valor</a:t>
            </a:r>
            <a:endParaRPr lang="en-US" sz="1350" dirty="0"/>
          </a:p>
        </p:txBody>
      </p:sp>
      <p:sp>
        <p:nvSpPr>
          <p:cNvPr id="52" name="Text 49"/>
          <p:cNvSpPr txBox="1"/>
          <p:nvPr/>
        </p:nvSpPr>
        <p:spPr>
          <a:xfrm>
            <a:off x="3730752" y="5340096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actividades con que el equipo produce y entrega ese valor</a:t>
            </a:r>
            <a:endParaRPr lang="en-US" sz="1180" dirty="0"/>
          </a:p>
        </p:txBody>
      </p:sp>
      <p:sp>
        <p:nvSpPr>
          <p:cNvPr id="53" name="Shape 50"/>
          <p:cNvSpPr/>
          <p:nvPr/>
        </p:nvSpPr>
        <p:spPr>
          <a:xfrm>
            <a:off x="7443216" y="5376672"/>
            <a:ext cx="1828800" cy="4206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7498080" y="539496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Construcción</a:t>
            </a:r>
            <a:endParaRPr lang="en-US" sz="1050" dirty="0"/>
          </a:p>
        </p:txBody>
      </p:sp>
      <p:sp>
        <p:nvSpPr>
          <p:cNvPr id="55" name="Text 52"/>
          <p:cNvSpPr txBox="1"/>
          <p:nvPr/>
        </p:nvSpPr>
        <p:spPr>
          <a:xfrm>
            <a:off x="9418320" y="5340096"/>
            <a:ext cx="211500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Programar y probar, instalar, capacitar</a:t>
            </a:r>
            <a:endParaRPr lang="en-US" sz="10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tpe401-taller-de-proyecto-de-especialidad\clases\semana-01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TPE401 · Taller de Proyecto de Especialidad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LA REGLA DEL MÓDULO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dice la propuesta tiene que verse en el sistema, y al revés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658368" y="1810512"/>
            <a:ext cx="4206240" cy="10972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32688" y="1883664"/>
            <a:ext cx="3657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dice la propuesta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7327087" y="1810512"/>
            <a:ext cx="4206240" cy="10972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601407" y="1883664"/>
            <a:ext cx="3657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hace el sistema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5010912" y="2359152"/>
            <a:ext cx="2169871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triangle"/>
            <a:tailEnd type="triangle"/>
          </a:ln>
        </p:spPr>
      </p:sp>
      <p:sp>
        <p:nvSpPr>
          <p:cNvPr id="15" name="Text 12"/>
          <p:cNvSpPr txBox="1"/>
          <p:nvPr/>
        </p:nvSpPr>
        <p:spPr>
          <a:xfrm>
            <a:off x="5010912" y="1993392"/>
            <a:ext cx="21698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coherencia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58368" y="32004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FORMAS DE ROMPERLA, EN LA FERRETERÍA</a:t>
            </a:r>
            <a:endParaRPr lang="en-US" sz="960" dirty="0"/>
          </a:p>
        </p:txBody>
      </p:sp>
      <p:sp>
        <p:nvSpPr>
          <p:cNvPr id="17" name="Shape 14"/>
          <p:cNvSpPr/>
          <p:nvPr/>
        </p:nvSpPr>
        <p:spPr>
          <a:xfrm>
            <a:off x="658368" y="3529584"/>
            <a:ext cx="3503066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68" y="3529584"/>
            <a:ext cx="3503066" cy="548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41248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1243584" y="3694176"/>
            <a:ext cx="273497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objetivo dice «avisar al cliente cuando su pedido esté listo»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1243584" y="4517136"/>
            <a:ext cx="27349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el sistema no avisa a nadie.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344314" y="3529584"/>
            <a:ext cx="3503066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344314" y="3529584"/>
            <a:ext cx="3503066" cy="548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527194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4929530" y="3694176"/>
            <a:ext cx="273497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presupuesto no incluye el servidor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4929530" y="4517136"/>
            <a:ext cx="27349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el sistema necesita uno para funcionar.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030261" y="3529584"/>
            <a:ext cx="3503066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030261" y="3529584"/>
            <a:ext cx="3503066" cy="548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213141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</a:t>
            </a:r>
            <a:endParaRPr lang="en-US" sz="2000" dirty="0"/>
          </a:p>
        </p:txBody>
      </p:sp>
      <p:sp>
        <p:nvSpPr>
          <p:cNvPr id="30" name="Text 27"/>
          <p:cNvSpPr txBox="1"/>
          <p:nvPr/>
        </p:nvSpPr>
        <p:spPr>
          <a:xfrm>
            <a:off x="8615477" y="3694176"/>
            <a:ext cx="273497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sistema trae un módulo de bodega completo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8615477" y="4517136"/>
            <a:ext cx="27349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la delimitación dejaba la bodega fuera.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58368" y="5486400"/>
            <a:ext cx="10874959" cy="5303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50976" y="5532120"/>
            <a:ext cx="1028974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pieza puede estar bien hecha y el proyecto igual fallar: la pauta final evalúa la coherencia.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tpe401-taller-de-proyecto-de-especialidad\clases\semana-01\01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TPE401 · Taller de Proyecto de Especialidad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371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DE 3 · 25 MINUTOS</a:t>
            </a:r>
            <a:endParaRPr lang="en-US" sz="96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810512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recorrido de diez semanas</a:t>
            </a:r>
            <a:endParaRPr lang="en-US" sz="4600" dirty="0"/>
          </a:p>
        </p:txBody>
      </p:sp>
      <p:sp>
        <p:nvSpPr>
          <p:cNvPr id="10" name="Shape 7"/>
          <p:cNvSpPr/>
          <p:nvPr/>
        </p:nvSpPr>
        <p:spPr>
          <a:xfrm>
            <a:off x="658368" y="3017520"/>
            <a:ext cx="384048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1" name="Text 8"/>
          <p:cNvSpPr txBox="1"/>
          <p:nvPr/>
        </p:nvSpPr>
        <p:spPr>
          <a:xfrm>
            <a:off x="658368" y="327355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se entrega y cuándo, cuáles entregas llevan nota, con qué se revisa cada una y cómo es el examen final.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58368" y="4846320"/>
            <a:ext cx="3539642" cy="731520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59536" y="4956048"/>
            <a:ext cx="31373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859536" y="5175504"/>
            <a:ext cx="3137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se construye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326026" y="4846320"/>
            <a:ext cx="3539642" cy="7315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27194" y="4956048"/>
            <a:ext cx="31373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4527194" y="5175504"/>
            <a:ext cx="3137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recorrido de diez semanas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7993685" y="4846320"/>
            <a:ext cx="3539642" cy="731520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194853" y="4956048"/>
            <a:ext cx="31373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8194853" y="5175504"/>
            <a:ext cx="3137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qué herramientas llegas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tpe401-taller-de-proyecto-de-especialidad\clases\semana-01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TPE401 · Taller de Proyecto de Especialidad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LAS ENTREGAS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Primero se mejora, después se califica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658368" y="1883664"/>
            <a:ext cx="320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883664"/>
            <a:ext cx="3200400" cy="73152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21396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Avance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61518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parte de la entrega, adelantada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3467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284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NOTA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968496" y="2798064"/>
            <a:ext cx="417424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4495648" y="1883664"/>
            <a:ext cx="320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495648" y="1883664"/>
            <a:ext cx="3200400" cy="731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751680" y="21396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Retroalimentación</a:t>
            </a:r>
            <a:endParaRPr lang="en-US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4751680" y="261518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Comentarios concretos: qué está bien y qué mejorar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751680" y="33467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 FORMATIVA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805776" y="2798064"/>
            <a:ext cx="417424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8332927" y="1883664"/>
            <a:ext cx="320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32927" y="1883664"/>
            <a:ext cx="3200400" cy="731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588959" y="21396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Versión completa</a:t>
            </a:r>
            <a:endParaRPr lang="en-US" sz="2100" dirty="0"/>
          </a:p>
        </p:txBody>
      </p:sp>
      <p:sp>
        <p:nvSpPr>
          <p:cNvPr id="25" name="Text 22"/>
          <p:cNvSpPr txBox="1"/>
          <p:nvPr/>
        </p:nvSpPr>
        <p:spPr>
          <a:xfrm>
            <a:off x="8588959" y="261518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Todas las partes, con las correcciones incorporadas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588959" y="33467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NOTA · EVALUACIÓN SUMATIVA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58368" y="4114800"/>
            <a:ext cx="2595296" cy="1097280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59536" y="4224528"/>
            <a:ext cx="222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Equipos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859536" y="4535424"/>
            <a:ext cx="2229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hasta cinco integrantes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3418256" y="4114800"/>
            <a:ext cx="2595296" cy="1097280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619424" y="4224528"/>
            <a:ext cx="222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integrante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3619424" y="4535424"/>
            <a:ext cx="2229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sube una copia a su propia aula virtual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178144" y="4114800"/>
            <a:ext cx="2595296" cy="1097280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379312" y="4224528"/>
            <a:ext cx="222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Formato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6379312" y="4535424"/>
            <a:ext cx="2229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PDF, salvo que se indique otro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8938031" y="4114800"/>
            <a:ext cx="2595296" cy="1097280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139199" y="4224528"/>
            <a:ext cx="222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Peso máximo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9139199" y="4535424"/>
            <a:ext cx="2229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MB por archivo; si pesa más, en ZIP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658368" y="5541264"/>
            <a:ext cx="10874959" cy="5303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950976" y="5586984"/>
            <a:ext cx="1028974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retroalimentación de un avance es la oportunidad de corregir antes de que cuente para la nota.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tpe401-taller-de-proyecto-de-especialidad\clases\semana-01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TPE401 · Taller de Proyecto de Especialidad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EL CALENDARIO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Ocho entregas en diez semanas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676656" y="3200400"/>
            <a:ext cx="1050920" cy="310896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13232" y="3246120"/>
            <a:ext cx="977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S1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764152" y="3200400"/>
            <a:ext cx="1050920" cy="310896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800728" y="3246120"/>
            <a:ext cx="977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851648" y="3200400"/>
            <a:ext cx="1050920" cy="310896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888224" y="3246120"/>
            <a:ext cx="977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S3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939144" y="3200400"/>
            <a:ext cx="1050920" cy="310896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975720" y="3246120"/>
            <a:ext cx="977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S4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6640" y="3200400"/>
            <a:ext cx="1050920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63216" y="3246120"/>
            <a:ext cx="977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S5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114136" y="3200400"/>
            <a:ext cx="1050920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150712" y="3246120"/>
            <a:ext cx="977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S6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201632" y="3200400"/>
            <a:ext cx="1050920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238208" y="3246120"/>
            <a:ext cx="977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S7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289127" y="3200400"/>
            <a:ext cx="1050920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325703" y="3246120"/>
            <a:ext cx="977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S8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9376623" y="3200400"/>
            <a:ext cx="1050920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413199" y="3246120"/>
            <a:ext cx="977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S9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10464119" y="3200400"/>
            <a:ext cx="1050920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0500695" y="3246120"/>
            <a:ext cx="977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S10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658368" y="3602736"/>
            <a:ext cx="4349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284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UNIDAD 1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5008352" y="3602736"/>
            <a:ext cx="6524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UNIDAD 2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2669746" y="2615184"/>
            <a:ext cx="0" cy="585216"/>
          </a:xfrm>
          <a:prstGeom prst="line">
            <a:avLst/>
          </a:prstGeom>
          <a:noFill/>
          <a:ln w="12700">
            <a:solidFill>
              <a:srgbClr val="284B7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166826" y="1792224"/>
            <a:ext cx="1005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2221690" y="1847088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84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oct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2221690" y="2066544"/>
            <a:ext cx="896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 I · avance 1</a:t>
            </a:r>
            <a:endParaRPr lang="en-US" sz="980" dirty="0"/>
          </a:p>
        </p:txBody>
      </p:sp>
      <p:sp>
        <p:nvSpPr>
          <p:cNvPr id="36" name="Shape 33"/>
          <p:cNvSpPr/>
          <p:nvPr/>
        </p:nvSpPr>
        <p:spPr>
          <a:xfrm>
            <a:off x="3757242" y="3511296"/>
            <a:ext cx="0" cy="749808"/>
          </a:xfrm>
          <a:prstGeom prst="line">
            <a:avLst/>
          </a:prstGeom>
          <a:noFill/>
          <a:ln w="12700">
            <a:solidFill>
              <a:srgbClr val="284B75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254322" y="4261104"/>
            <a:ext cx="1005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3309186" y="4315968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84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 oct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3309186" y="4535424"/>
            <a:ext cx="896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 I · avance 2</a:t>
            </a:r>
            <a:endParaRPr lang="en-US" sz="980" dirty="0"/>
          </a:p>
        </p:txBody>
      </p:sp>
      <p:sp>
        <p:nvSpPr>
          <p:cNvPr id="40" name="Shape 37"/>
          <p:cNvSpPr/>
          <p:nvPr/>
        </p:nvSpPr>
        <p:spPr>
          <a:xfrm>
            <a:off x="4409740" y="2615184"/>
            <a:ext cx="0" cy="585216"/>
          </a:xfrm>
          <a:prstGeom prst="line">
            <a:avLst/>
          </a:prstGeom>
          <a:noFill/>
          <a:ln w="12700">
            <a:solidFill>
              <a:srgbClr val="284B75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906820" y="1792224"/>
            <a:ext cx="1005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3961684" y="1847088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84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 oct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3961684" y="2066544"/>
            <a:ext cx="896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Elevator Pitch</a:t>
            </a:r>
            <a:endParaRPr lang="en-US" sz="980" dirty="0"/>
          </a:p>
        </p:txBody>
      </p:sp>
      <p:sp>
        <p:nvSpPr>
          <p:cNvPr id="44" name="Shape 41"/>
          <p:cNvSpPr/>
          <p:nvPr/>
        </p:nvSpPr>
        <p:spPr>
          <a:xfrm>
            <a:off x="4844738" y="3511296"/>
            <a:ext cx="0" cy="749808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341818" y="4261104"/>
            <a:ext cx="1005840" cy="8229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396682" y="4315968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 oct</a:t>
            </a:r>
            <a:endParaRPr lang="en-US" sz="1050" dirty="0"/>
          </a:p>
        </p:txBody>
      </p:sp>
      <p:sp>
        <p:nvSpPr>
          <p:cNvPr id="47" name="Text 44"/>
          <p:cNvSpPr txBox="1"/>
          <p:nvPr/>
        </p:nvSpPr>
        <p:spPr>
          <a:xfrm>
            <a:off x="4396682" y="4535424"/>
            <a:ext cx="896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 I</a:t>
            </a:r>
            <a:endParaRPr lang="en-US" sz="980" dirty="0"/>
          </a:p>
        </p:txBody>
      </p:sp>
      <p:sp>
        <p:nvSpPr>
          <p:cNvPr id="48" name="Shape 45"/>
          <p:cNvSpPr/>
          <p:nvPr/>
        </p:nvSpPr>
        <p:spPr>
          <a:xfrm>
            <a:off x="7019730" y="2615184"/>
            <a:ext cx="0" cy="585216"/>
          </a:xfrm>
          <a:prstGeom prst="line">
            <a:avLst/>
          </a:prstGeom>
          <a:noFill/>
          <a:ln w="12700">
            <a:solidFill>
              <a:srgbClr val="284B75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516810" y="1792224"/>
            <a:ext cx="1005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6571674" y="1847088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84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nov</a:t>
            </a:r>
            <a:endParaRPr lang="en-US" sz="1050" dirty="0"/>
          </a:p>
        </p:txBody>
      </p:sp>
      <p:sp>
        <p:nvSpPr>
          <p:cNvPr id="51" name="Text 48"/>
          <p:cNvSpPr txBox="1"/>
          <p:nvPr/>
        </p:nvSpPr>
        <p:spPr>
          <a:xfrm>
            <a:off x="6571674" y="2066544"/>
            <a:ext cx="896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 II · avance 1</a:t>
            </a:r>
            <a:endParaRPr lang="en-US" sz="980" dirty="0"/>
          </a:p>
        </p:txBody>
      </p:sp>
      <p:sp>
        <p:nvSpPr>
          <p:cNvPr id="52" name="Shape 49"/>
          <p:cNvSpPr/>
          <p:nvPr/>
        </p:nvSpPr>
        <p:spPr>
          <a:xfrm>
            <a:off x="9194722" y="3511296"/>
            <a:ext cx="0" cy="749808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8691802" y="4261104"/>
            <a:ext cx="1005840" cy="8229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8746666" y="4315968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 nov</a:t>
            </a:r>
            <a:endParaRPr lang="en-US" sz="1050" dirty="0"/>
          </a:p>
        </p:txBody>
      </p:sp>
      <p:sp>
        <p:nvSpPr>
          <p:cNvPr id="55" name="Text 52"/>
          <p:cNvSpPr txBox="1"/>
          <p:nvPr/>
        </p:nvSpPr>
        <p:spPr>
          <a:xfrm>
            <a:off x="8746666" y="4535424"/>
            <a:ext cx="896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 II</a:t>
            </a:r>
            <a:endParaRPr lang="en-US" sz="980" dirty="0"/>
          </a:p>
        </p:txBody>
      </p:sp>
      <p:sp>
        <p:nvSpPr>
          <p:cNvPr id="56" name="Shape 53"/>
          <p:cNvSpPr/>
          <p:nvPr/>
        </p:nvSpPr>
        <p:spPr>
          <a:xfrm>
            <a:off x="10282218" y="2615184"/>
            <a:ext cx="0" cy="585216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9779298" y="1792224"/>
            <a:ext cx="1005840" cy="8229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9834162" y="1847088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dic</a:t>
            </a:r>
            <a:endParaRPr lang="en-US" sz="1050" dirty="0"/>
          </a:p>
        </p:txBody>
      </p:sp>
      <p:sp>
        <p:nvSpPr>
          <p:cNvPr id="59" name="Text 56"/>
          <p:cNvSpPr txBox="1"/>
          <p:nvPr/>
        </p:nvSpPr>
        <p:spPr>
          <a:xfrm>
            <a:off x="9834162" y="2066544"/>
            <a:ext cx="896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Portafolio</a:t>
            </a:r>
            <a:endParaRPr lang="en-US" sz="980" dirty="0"/>
          </a:p>
        </p:txBody>
      </p:sp>
      <p:sp>
        <p:nvSpPr>
          <p:cNvPr id="60" name="Shape 57"/>
          <p:cNvSpPr/>
          <p:nvPr/>
        </p:nvSpPr>
        <p:spPr>
          <a:xfrm>
            <a:off x="11369714" y="3511296"/>
            <a:ext cx="0" cy="749808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10527487" y="4261104"/>
            <a:ext cx="1005840" cy="8229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10582351" y="4315968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dic</a:t>
            </a:r>
            <a:endParaRPr lang="en-US" sz="1050" dirty="0"/>
          </a:p>
        </p:txBody>
      </p:sp>
      <p:sp>
        <p:nvSpPr>
          <p:cNvPr id="63" name="Text 60"/>
          <p:cNvSpPr txBox="1"/>
          <p:nvPr/>
        </p:nvSpPr>
        <p:spPr>
          <a:xfrm>
            <a:off x="10582351" y="4535424"/>
            <a:ext cx="896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Examen final</a:t>
            </a:r>
            <a:endParaRPr lang="en-US" sz="980" dirty="0"/>
          </a:p>
        </p:txBody>
      </p:sp>
      <p:sp>
        <p:nvSpPr>
          <p:cNvPr id="64" name="Shape 61"/>
          <p:cNvSpPr/>
          <p:nvPr/>
        </p:nvSpPr>
        <p:spPr>
          <a:xfrm>
            <a:off x="658368" y="5358384"/>
            <a:ext cx="274320" cy="2011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1024128" y="534924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Lleva nota</a:t>
            </a:r>
            <a:endParaRPr lang="en-US" sz="1100" dirty="0"/>
          </a:p>
        </p:txBody>
      </p:sp>
      <p:sp>
        <p:nvSpPr>
          <p:cNvPr id="66" name="Shape 63"/>
          <p:cNvSpPr/>
          <p:nvPr/>
        </p:nvSpPr>
        <p:spPr>
          <a:xfrm>
            <a:off x="2487168" y="5358384"/>
            <a:ext cx="2743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2852928" y="534924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Recibe retroalimentación, sin nota</a:t>
            </a:r>
            <a:endParaRPr lang="en-US" sz="1100" dirty="0"/>
          </a:p>
        </p:txBody>
      </p:sp>
      <p:sp>
        <p:nvSpPr>
          <p:cNvPr id="68" name="Text 65"/>
          <p:cNvSpPr txBox="1"/>
          <p:nvPr/>
        </p:nvSpPr>
        <p:spPr>
          <a:xfrm>
            <a:off x="6327648" y="5349240"/>
            <a:ext cx="52056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sesiones el lunes 12 de octubre ni el martes 8 de diciembre: son feriados.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tpe401-taller-de-proyecto-de-especialidad\clases\semana-01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TPE401 · Taller de Proyecto de Especialidad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ENTREGABLE I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documento de diez puntos, en tres avances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658368" y="2450592"/>
            <a:ext cx="3503066" cy="2670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2450592"/>
            <a:ext cx="3503066" cy="3840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" y="2468880"/>
            <a:ext cx="33933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Descubrimiento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96112" y="2999232"/>
            <a:ext cx="18571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Avance 1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2881274" y="3054096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oct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96112" y="3529584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Diagnóstico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96112" y="3895344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Fundamentación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344314" y="2139696"/>
            <a:ext cx="3503066" cy="2980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344314" y="2139696"/>
            <a:ext cx="3503066" cy="38404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399178" y="2157984"/>
            <a:ext cx="33933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4582058" y="2688336"/>
            <a:ext cx="18571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Avance 2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6567221" y="2743200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 oct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4582058" y="3218688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Definición y delimitación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82058" y="3584448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Objetivos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4582058" y="3950208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Impacto esperado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4582058" y="4315968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Producto esperado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8030261" y="1828800"/>
            <a:ext cx="350306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030261" y="1828800"/>
            <a:ext cx="3503066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085125" y="1847088"/>
            <a:ext cx="33933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Planificación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8268005" y="2377440"/>
            <a:ext cx="18571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Avance 3</a:t>
            </a:r>
            <a:endParaRPr lang="en-US" sz="2000" dirty="0"/>
          </a:p>
        </p:txBody>
      </p:sp>
      <p:sp>
        <p:nvSpPr>
          <p:cNvPr id="30" name="Text 27"/>
          <p:cNvSpPr txBox="1"/>
          <p:nvPr/>
        </p:nvSpPr>
        <p:spPr>
          <a:xfrm>
            <a:off x="10253167" y="2432304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 oct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8268005" y="2907792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Recursos y presupuesto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8268005" y="3273552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Carta Gantt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8268005" y="3639312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 Organización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8268005" y="4005072"/>
            <a:ext cx="3045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 Elevator Pitch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658368" y="5504688"/>
            <a:ext cx="10874959" cy="5303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50976" y="5550408"/>
            <a:ext cx="1028974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avance 3 va con los avances 1 y 2 corregidos: esa versión completa es la nota de la Unidad 1.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tpe401-taller-de-proyecto-de-especialidad\clases\semana-01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TPE401 · Taller de Proyecto de Especialidad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MARTES 27 DE OCTUBRE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proyecto en un viaje en ascensor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658368" y="1792224"/>
            <a:ext cx="3291840" cy="35661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" y="20116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90</a:t>
            </a:r>
            <a:endParaRPr lang="en-US" sz="96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351129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segundos como máximo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755648" y="4023360"/>
            <a:ext cx="109728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4" name="Text 11"/>
          <p:cNvSpPr txBox="1"/>
          <p:nvPr/>
        </p:nvSpPr>
        <p:spPr>
          <a:xfrm>
            <a:off x="932688" y="422452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pitch por proyecto, y exponen todos los integrantes.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224528" y="1792224"/>
            <a:ext cx="7308799" cy="786384"/>
          </a:xfrm>
          <a:prstGeom prst="rect">
            <a:avLst/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462272" y="18836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GANCHO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462272" y="2103120"/>
            <a:ext cx="68515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«¿Cuántas ventas pierde una ferretería por un cuaderno mal llenado?»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224528" y="2743200"/>
            <a:ext cx="3562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352544" y="2871216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84B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4919472" y="2852928"/>
            <a:ext cx="274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Quiénes son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4919472" y="3145536"/>
            <a:ext cx="274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Nombre, carrera y escuela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970368" y="2743200"/>
            <a:ext cx="3562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098384" y="2871216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84B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8665312" y="2852928"/>
            <a:ext cx="274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quién ayudan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8665312" y="3145536"/>
            <a:ext cx="274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público objetivo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224528" y="3639312"/>
            <a:ext cx="3562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352544" y="3767328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84B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400" dirty="0"/>
          </a:p>
        </p:txBody>
      </p:sp>
      <p:sp>
        <p:nvSpPr>
          <p:cNvPr id="28" name="Text 25"/>
          <p:cNvSpPr txBox="1"/>
          <p:nvPr/>
        </p:nvSpPr>
        <p:spPr>
          <a:xfrm>
            <a:off x="4919472" y="3749040"/>
            <a:ext cx="274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 formación</a:t>
            </a:r>
            <a:endParaRPr lang="en-US" sz="1350" dirty="0"/>
          </a:p>
        </p:txBody>
      </p:sp>
      <p:sp>
        <p:nvSpPr>
          <p:cNvPr id="29" name="Text 26"/>
          <p:cNvSpPr txBox="1"/>
          <p:nvPr/>
        </p:nvSpPr>
        <p:spPr>
          <a:xfrm>
            <a:off x="4919472" y="4041648"/>
            <a:ext cx="274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Experiencia y formación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7970368" y="3639312"/>
            <a:ext cx="3562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098384" y="3767328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84B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2400" dirty="0"/>
          </a:p>
        </p:txBody>
      </p:sp>
      <p:sp>
        <p:nvSpPr>
          <p:cNvPr id="32" name="Text 29"/>
          <p:cNvSpPr txBox="1"/>
          <p:nvPr/>
        </p:nvSpPr>
        <p:spPr>
          <a:xfrm>
            <a:off x="8665312" y="3749040"/>
            <a:ext cx="274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aplican</a:t>
            </a:r>
            <a:endParaRPr lang="en-US" sz="1350" dirty="0"/>
          </a:p>
        </p:txBody>
      </p:sp>
      <p:sp>
        <p:nvSpPr>
          <p:cNvPr id="33" name="Text 30"/>
          <p:cNvSpPr txBox="1"/>
          <p:nvPr/>
        </p:nvSpPr>
        <p:spPr>
          <a:xfrm>
            <a:off x="8665312" y="4041648"/>
            <a:ext cx="274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Herramientas o soluciones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4224528" y="4535424"/>
            <a:ext cx="3562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52544" y="4663440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84B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2400" dirty="0"/>
          </a:p>
        </p:txBody>
      </p:sp>
      <p:sp>
        <p:nvSpPr>
          <p:cNvPr id="36" name="Text 33"/>
          <p:cNvSpPr txBox="1"/>
          <p:nvPr/>
        </p:nvSpPr>
        <p:spPr>
          <a:xfrm>
            <a:off x="4919472" y="4645152"/>
            <a:ext cx="274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qué</a:t>
            </a:r>
            <a:endParaRPr lang="en-US" sz="1350" dirty="0"/>
          </a:p>
        </p:txBody>
      </p:sp>
      <p:sp>
        <p:nvSpPr>
          <p:cNvPr id="37" name="Text 34"/>
          <p:cNvSpPr txBox="1"/>
          <p:nvPr/>
        </p:nvSpPr>
        <p:spPr>
          <a:xfrm>
            <a:off x="4919472" y="4937760"/>
            <a:ext cx="274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producto o servicio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7970368" y="4535424"/>
            <a:ext cx="3562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098384" y="4663440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84B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2400" dirty="0"/>
          </a:p>
        </p:txBody>
      </p:sp>
      <p:sp>
        <p:nvSpPr>
          <p:cNvPr id="40" name="Text 37"/>
          <p:cNvSpPr txBox="1"/>
          <p:nvPr/>
        </p:nvSpPr>
        <p:spPr>
          <a:xfrm>
            <a:off x="8665312" y="4645152"/>
            <a:ext cx="274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contactarlos</a:t>
            </a:r>
            <a:endParaRPr lang="en-US" sz="1350" dirty="0"/>
          </a:p>
        </p:txBody>
      </p:sp>
      <p:sp>
        <p:nvSpPr>
          <p:cNvPr id="41" name="Text 38"/>
          <p:cNvSpPr txBox="1"/>
          <p:nvPr/>
        </p:nvSpPr>
        <p:spPr>
          <a:xfrm>
            <a:off x="8665312" y="4937760"/>
            <a:ext cx="274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Teléfono, web, correo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658368" y="5596128"/>
            <a:ext cx="45720" cy="18288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804672" y="5586984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pauta también evalúa el dominio, el manejo de la voz y una vestimenta acorde a la idea presentada.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tpe401-taller-de-proyecto-de-especialidad\clases\semana-01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TPE401 · Taller de Proyecto de Especialidad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UNIDAD 2 Y CIERRE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 valor del proyecto a la entrega final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658368" y="1792224"/>
            <a:ext cx="47548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792224"/>
            <a:ext cx="4754880" cy="73152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32688" y="201168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 II · 11 Y 25 DE NOVIEMBRE</a:t>
            </a:r>
            <a:endParaRPr lang="en-US" sz="960" dirty="0"/>
          </a:p>
        </p:txBody>
      </p:sp>
      <p:sp>
        <p:nvSpPr>
          <p:cNvPr id="13" name="Text 10"/>
          <p:cNvSpPr txBox="1"/>
          <p:nvPr/>
        </p:nvSpPr>
        <p:spPr>
          <a:xfrm>
            <a:off x="932688" y="239572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Lienzo Canvas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32688" y="272491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proyecto como negocio, en nueve bloques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32688" y="332841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Cadena de valor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932688" y="36576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nueve actividades con que se produce y entrega el valor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32688" y="426110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Avance del sistema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932688" y="45902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de lo que ya funciona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541264" y="3566160"/>
            <a:ext cx="548640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6236208" y="1792224"/>
            <a:ext cx="5297119" cy="35661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10528" y="2011680"/>
            <a:ext cx="483991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PORTAFOLIO · 2 DE DICIEMBRE</a:t>
            </a:r>
            <a:endParaRPr lang="en-US" sz="960" dirty="0"/>
          </a:p>
        </p:txBody>
      </p:sp>
      <p:sp>
        <p:nvSpPr>
          <p:cNvPr id="22" name="Shape 19"/>
          <p:cNvSpPr/>
          <p:nvPr/>
        </p:nvSpPr>
        <p:spPr>
          <a:xfrm>
            <a:off x="6510528" y="2450592"/>
            <a:ext cx="54864" cy="5486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711696" y="2395728"/>
            <a:ext cx="45655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sistema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711696" y="2706624"/>
            <a:ext cx="45655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su evidencia: código, video funcionando, capturas, manual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510528" y="3236976"/>
            <a:ext cx="54864" cy="5486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711696" y="3182112"/>
            <a:ext cx="45655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propuesta completa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711696" y="3493008"/>
            <a:ext cx="45655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Entregables I y II en su versión final, corregidos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510528" y="4023360"/>
            <a:ext cx="54864" cy="5486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711696" y="3968496"/>
            <a:ext cx="45655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evidencias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6711696" y="4279392"/>
            <a:ext cx="45655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Fuentes, supuestos, cotizaciones, FODA y pruebas; entrevistas si se realizaron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510528" y="4773168"/>
            <a:ext cx="47484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integrante sube la misma versión final del portafolio completo a su aula virtual.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658368" y="5541264"/>
            <a:ext cx="10874959" cy="5303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50976" y="5586984"/>
            <a:ext cx="1028974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portafolio va una semana antes del examen: su retroalimentación sirve para preparar la presentación.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tpe401-taller-de-proyecto-de-especialidad\clases\semana-01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TPE401 · Taller de Proyecto de Especialidad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MIÉRCOLES 9 DE DICIEMBRE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examen final tiene dos partes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00784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llama Evaluación Integrada de Especialidad: mide si desarrollaste las competencias del perfil de egreso de tu carrera.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377440"/>
            <a:ext cx="47974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377440"/>
            <a:ext cx="73152" cy="246888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9264" y="25968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PARTE 1</a:t>
            </a:r>
            <a:endParaRPr lang="en-US" sz="960" dirty="0"/>
          </a:p>
        </p:txBody>
      </p:sp>
      <p:sp>
        <p:nvSpPr>
          <p:cNvPr id="14" name="Text 11"/>
          <p:cNvSpPr txBox="1"/>
          <p:nvPr/>
        </p:nvSpPr>
        <p:spPr>
          <a:xfrm>
            <a:off x="969264" y="2889504"/>
            <a:ext cx="424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presentación del Resumen Ejecutivo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969264" y="3712464"/>
            <a:ext cx="424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hace el equipo: el proyecto completo, expuesto en 15 minutos ante quien podría invertir en él.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735928" y="2377440"/>
            <a:ext cx="47974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735928" y="2377440"/>
            <a:ext cx="73152" cy="24688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046824" y="25968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PARTE 2</a:t>
            </a:r>
            <a:endParaRPr lang="en-US" sz="960" dirty="0"/>
          </a:p>
        </p:txBody>
      </p:sp>
      <p:sp>
        <p:nvSpPr>
          <p:cNvPr id="19" name="Text 16"/>
          <p:cNvSpPr txBox="1"/>
          <p:nvPr/>
        </p:nvSpPr>
        <p:spPr>
          <a:xfrm>
            <a:off x="7046824" y="2889504"/>
            <a:ext cx="424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escala de apreciación de competencias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7046824" y="3712464"/>
            <a:ext cx="424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completa el docente por cada estudiante: qué tan preparado está para aplicar cada competencia en un trabajo real.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455768" y="32004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½ + ½</a:t>
            </a:r>
            <a:endParaRPr lang="en-US" sz="2400" dirty="0"/>
          </a:p>
        </p:txBody>
      </p:sp>
      <p:sp>
        <p:nvSpPr>
          <p:cNvPr id="22" name="Shape 19"/>
          <p:cNvSpPr/>
          <p:nvPr/>
        </p:nvSpPr>
        <p:spPr>
          <a:xfrm>
            <a:off x="658368" y="5212080"/>
            <a:ext cx="10874959" cy="530352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50976" y="5257800"/>
            <a:ext cx="1028974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Quien repruebe la presentación la repite en el examen de recalificación, con las mejoras indicadas.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tpe401-taller-de-proyecto-de-especialidad\clases\semana-01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TPE401 · Taller de Proyecto de Especialidad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EL RESUMEN EJECUTIVO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Siete láminas en 15 minutos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658368" y="1920240"/>
            <a:ext cx="914400" cy="1188720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68096" y="1993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22860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260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—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58368" y="3236976"/>
            <a:ext cx="914400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4" name="Text 11"/>
          <p:cNvSpPr txBox="1"/>
          <p:nvPr/>
        </p:nvSpPr>
        <p:spPr>
          <a:xfrm>
            <a:off x="658368" y="3310128"/>
            <a:ext cx="154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Portada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58368" y="3602736"/>
            <a:ext cx="154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 del proyecto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645920" y="1920240"/>
            <a:ext cx="573816" cy="1188720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755648" y="1993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645920" y="2286000"/>
            <a:ext cx="573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1'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1645920" y="4242816"/>
            <a:ext cx="573816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0" name="Text 17"/>
          <p:cNvSpPr txBox="1"/>
          <p:nvPr/>
        </p:nvSpPr>
        <p:spPr>
          <a:xfrm>
            <a:off x="1645920" y="4315968"/>
            <a:ext cx="17763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Información general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645920" y="4608576"/>
            <a:ext cx="17763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Integrantes, carrera, sede, foto del equipo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292888" y="1920240"/>
            <a:ext cx="1147633" cy="1188720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402616" y="1993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2292888" y="2286000"/>
            <a:ext cx="114763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2'</a:t>
            </a:r>
            <a:endParaRPr lang="en-US" sz="2600" dirty="0"/>
          </a:p>
        </p:txBody>
      </p:sp>
      <p:sp>
        <p:nvSpPr>
          <p:cNvPr id="25" name="Shape 22"/>
          <p:cNvSpPr/>
          <p:nvPr/>
        </p:nvSpPr>
        <p:spPr>
          <a:xfrm>
            <a:off x="2292888" y="3236976"/>
            <a:ext cx="1147633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6" name="Text 23"/>
          <p:cNvSpPr txBox="1"/>
          <p:nvPr/>
        </p:nvSpPr>
        <p:spPr>
          <a:xfrm>
            <a:off x="2292888" y="3310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Desafío o necesidad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2292888" y="360273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el objetivo general y los específicos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513673" y="1920240"/>
            <a:ext cx="1721449" cy="1188720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623401" y="1993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3513673" y="2286000"/>
            <a:ext cx="17214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3'</a:t>
            </a:r>
            <a:endParaRPr lang="en-US" sz="2600" dirty="0"/>
          </a:p>
        </p:txBody>
      </p:sp>
      <p:sp>
        <p:nvSpPr>
          <p:cNvPr id="31" name="Shape 28"/>
          <p:cNvSpPr/>
          <p:nvPr/>
        </p:nvSpPr>
        <p:spPr>
          <a:xfrm>
            <a:off x="3513673" y="4242816"/>
            <a:ext cx="1721449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2" name="Text 29"/>
          <p:cNvSpPr txBox="1"/>
          <p:nvPr/>
        </p:nvSpPr>
        <p:spPr>
          <a:xfrm>
            <a:off x="3513673" y="43159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Solución propuesta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3513673" y="460857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Fundamentada en el diagnóstico, con el pitch y el Canvas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308275" y="1920240"/>
            <a:ext cx="3442899" cy="11887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418003" y="1993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5308275" y="2286000"/>
            <a:ext cx="344289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6'</a:t>
            </a:r>
            <a:endParaRPr lang="en-US" sz="2600" dirty="0"/>
          </a:p>
        </p:txBody>
      </p:sp>
      <p:sp>
        <p:nvSpPr>
          <p:cNvPr id="37" name="Shape 34"/>
          <p:cNvSpPr/>
          <p:nvPr/>
        </p:nvSpPr>
        <p:spPr>
          <a:xfrm>
            <a:off x="5308275" y="3236976"/>
            <a:ext cx="3442899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38" name="Text 35"/>
          <p:cNvSpPr txBox="1"/>
          <p:nvPr/>
        </p:nvSpPr>
        <p:spPr>
          <a:xfrm>
            <a:off x="5308275" y="3310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Solución técnica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5308275" y="360273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sistema, con evidencia de que existe y funciona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8824326" y="1920240"/>
            <a:ext cx="1721449" cy="1188720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934054" y="1993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8824326" y="2286000"/>
            <a:ext cx="17214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3'</a:t>
            </a:r>
            <a:endParaRPr lang="en-US" sz="2600" dirty="0"/>
          </a:p>
        </p:txBody>
      </p:sp>
      <p:sp>
        <p:nvSpPr>
          <p:cNvPr id="43" name="Shape 40"/>
          <p:cNvSpPr/>
          <p:nvPr/>
        </p:nvSpPr>
        <p:spPr>
          <a:xfrm>
            <a:off x="8824326" y="4242816"/>
            <a:ext cx="1721449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44" name="Text 41"/>
          <p:cNvSpPr txBox="1"/>
          <p:nvPr/>
        </p:nvSpPr>
        <p:spPr>
          <a:xfrm>
            <a:off x="8824326" y="43159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Conclusiones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8824326" y="460857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Importancia, viabilidad y sostenibilidad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0618927" y="1920240"/>
            <a:ext cx="914400" cy="1188720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0728655" y="1993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200" dirty="0"/>
          </a:p>
        </p:txBody>
      </p:sp>
      <p:sp>
        <p:nvSpPr>
          <p:cNvPr id="48" name="Text 45"/>
          <p:cNvSpPr txBox="1"/>
          <p:nvPr/>
        </p:nvSpPr>
        <p:spPr>
          <a:xfrm>
            <a:off x="10618927" y="22860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260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—</a:t>
            </a:r>
            <a:endParaRPr lang="en-US" sz="2000" dirty="0"/>
          </a:p>
        </p:txBody>
      </p:sp>
      <p:sp>
        <p:nvSpPr>
          <p:cNvPr id="49" name="Shape 46"/>
          <p:cNvSpPr/>
          <p:nvPr/>
        </p:nvSpPr>
        <p:spPr>
          <a:xfrm>
            <a:off x="10618927" y="3236976"/>
            <a:ext cx="914400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50" name="Text 47"/>
          <p:cNvSpPr txBox="1"/>
          <p:nvPr/>
        </p:nvSpPr>
        <p:spPr>
          <a:xfrm>
            <a:off x="9887407" y="33101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</a:t>
            </a:r>
            <a:endParaRPr lang="en-US" sz="1200" dirty="0"/>
          </a:p>
        </p:txBody>
      </p:sp>
      <p:sp>
        <p:nvSpPr>
          <p:cNvPr id="51" name="Text 48"/>
          <p:cNvSpPr txBox="1"/>
          <p:nvPr/>
        </p:nvSpPr>
        <p:spPr>
          <a:xfrm>
            <a:off x="9887407" y="360273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preguntas del docente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658368" y="5486400"/>
            <a:ext cx="10874959" cy="5303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950976" y="5532120"/>
            <a:ext cx="1028974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lámina que más tiempo tiene es la del sistema: el software es la evidencia central del proyecto.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tpe401-taller-de-proyecto-de-especialidad\clases\semana-01\01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TPE401 · Taller de Proyecto de Especialidad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9144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TRES PREGUNTAS DEL EXAMEN</a:t>
            </a:r>
            <a:endParaRPr lang="en-US" sz="96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2618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 conocen desde hoy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19456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5200" dirty="0"/>
          </a:p>
        </p:txBody>
      </p:sp>
      <p:sp>
        <p:nvSpPr>
          <p:cNvPr id="11" name="Text 8"/>
          <p:cNvSpPr txBox="1"/>
          <p:nvPr/>
        </p:nvSpPr>
        <p:spPr>
          <a:xfrm>
            <a:off x="1572768" y="2304288"/>
            <a:ext cx="996055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mejoras se le podrían hacer a la solución técnica?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1572768" y="2743200"/>
            <a:ext cx="99605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vocabulario técnico y con fundamento en las herramientas de la especialidad.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1572768" y="3218688"/>
            <a:ext cx="9960559" cy="0"/>
          </a:xfrm>
          <a:prstGeom prst="line">
            <a:avLst/>
          </a:prstGeom>
          <a:noFill/>
          <a:ln w="12700">
            <a:solidFill>
              <a:srgbClr val="2C4A66"/>
            </a:solidFill>
            <a:prstDash val="solid"/>
            <a:headEnd type="none"/>
            <a:tailEnd type="none"/>
          </a:ln>
        </p:spPr>
      </p:sp>
      <p:sp>
        <p:nvSpPr>
          <p:cNvPr id="14" name="Text 11"/>
          <p:cNvSpPr txBox="1"/>
          <p:nvPr/>
        </p:nvSpPr>
        <p:spPr>
          <a:xfrm>
            <a:off x="658368" y="3364992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5200" dirty="0"/>
          </a:p>
        </p:txBody>
      </p:sp>
      <p:sp>
        <p:nvSpPr>
          <p:cNvPr id="15" name="Text 12"/>
          <p:cNvSpPr txBox="1"/>
          <p:nvPr/>
        </p:nvSpPr>
        <p:spPr>
          <a:xfrm>
            <a:off x="1572768" y="3474720"/>
            <a:ext cx="996055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aprendieron en todo el proceso del proyecto?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1572768" y="3913632"/>
            <a:ext cx="99605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se desarrolló, en la práctica, lo que el módulo se propone.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1572768" y="4389120"/>
            <a:ext cx="9960559" cy="0"/>
          </a:xfrm>
          <a:prstGeom prst="line">
            <a:avLst/>
          </a:prstGeom>
          <a:noFill/>
          <a:ln w="12700">
            <a:solidFill>
              <a:srgbClr val="2C4A66"/>
            </a:solidFill>
            <a:prstDash val="solid"/>
            <a:headEnd type="none"/>
            <a:tailEnd type="none"/>
          </a:ln>
        </p:spPr>
      </p:sp>
      <p:sp>
        <p:nvSpPr>
          <p:cNvPr id="18" name="Text 15"/>
          <p:cNvSpPr txBox="1"/>
          <p:nvPr/>
        </p:nvSpPr>
        <p:spPr>
          <a:xfrm>
            <a:off x="658368" y="4535424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5200" dirty="0"/>
          </a:p>
        </p:txBody>
      </p:sp>
      <p:sp>
        <p:nvSpPr>
          <p:cNvPr id="19" name="Text 16"/>
          <p:cNvSpPr txBox="1"/>
          <p:nvPr/>
        </p:nvSpPr>
        <p:spPr>
          <a:xfrm>
            <a:off x="1572768" y="4645152"/>
            <a:ext cx="996055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su propuesta es innovadora?</a:t>
            </a:r>
            <a:endParaRPr lang="en-US" sz="2100" dirty="0"/>
          </a:p>
        </p:txBody>
      </p:sp>
      <p:sp>
        <p:nvSpPr>
          <p:cNvPr id="20" name="Text 17"/>
          <p:cNvSpPr txBox="1"/>
          <p:nvPr/>
        </p:nvSpPr>
        <p:spPr>
          <a:xfrm>
            <a:off x="1572768" y="5084064"/>
            <a:ext cx="99605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al menos dos argumentos.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658368" y="576072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docente puede dirigirlas al equipo completo o a un integrante en particular.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tpe401-taller-de-proyecto-de-especialidad\clases\semana-01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TPE401 · Taller de Proyecto de Especialidad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LAS PAUTAS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Cada entrega se revisa con una pauta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82496"/>
            <a:ext cx="108749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indicador es un aspecto que se evalúa. Cada uno se ubica en uno de tres niveles: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58368" y="2194560"/>
            <a:ext cx="1554480" cy="2743200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8368" y="23591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86 – 100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58368" y="5029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Avanzado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2395728" y="2834640"/>
            <a:ext cx="1554480" cy="21031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395728" y="29992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 – 85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2395728" y="5029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Adecuado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133088" y="3474720"/>
            <a:ext cx="1554480" cy="14630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133088" y="363931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– 59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4133088" y="5029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desarrollo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658368" y="534009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puntos por indicador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327648" y="2194560"/>
            <a:ext cx="520567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SE REVISA EN TODAS LAS ENTREGAS</a:t>
            </a:r>
            <a:endParaRPr lang="en-US" sz="960" dirty="0"/>
          </a:p>
        </p:txBody>
      </p:sp>
      <p:sp>
        <p:nvSpPr>
          <p:cNvPr id="22" name="Text 19"/>
          <p:cNvSpPr txBox="1"/>
          <p:nvPr/>
        </p:nvSpPr>
        <p:spPr>
          <a:xfrm>
            <a:off x="6327648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6748272" y="2542032"/>
            <a:ext cx="4785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plazo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748272" y="2834640"/>
            <a:ext cx="47850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entrega en la fecha o antes.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327648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6748272" y="3273552"/>
            <a:ext cx="4785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formato oficial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748272" y="3566160"/>
            <a:ext cx="47850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usa y se siguen sus instrucciones.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327648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6748272" y="4005072"/>
            <a:ext cx="4785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redacción y la ortografía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748272" y="4297680"/>
            <a:ext cx="47850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Permiten leer y entender el trabajo.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327648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6748272" y="4736592"/>
            <a:ext cx="4785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sostenibilidad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6748272" y="5029200"/>
            <a:ext cx="47850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proyecto puede seguir funcionando sin el equipo que lo creó.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tpe401-taller-de-proyecto-de-especialidad\clases\semana-01\01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TPE401 · Taller de Proyecto de Especialidad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371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DE 3 · 45 MINUTOS</a:t>
            </a:r>
            <a:endParaRPr lang="en-US" sz="96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810512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 qué herramientas llegas</a:t>
            </a:r>
            <a:endParaRPr lang="en-US" sz="4600" dirty="0"/>
          </a:p>
        </p:txBody>
      </p:sp>
      <p:sp>
        <p:nvSpPr>
          <p:cNvPr id="10" name="Shape 7"/>
          <p:cNvSpPr/>
          <p:nvPr/>
        </p:nvSpPr>
        <p:spPr>
          <a:xfrm>
            <a:off x="658368" y="3017520"/>
            <a:ext cx="384048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1" name="Text 8"/>
          <p:cNvSpPr txBox="1"/>
          <p:nvPr/>
        </p:nvSpPr>
        <p:spPr>
          <a:xfrm>
            <a:off x="658368" y="3273552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perfil de egreso de tu carrera, lo que te dejó cada asignatura, y para qué sirve saberlo: el desafío del proyecto.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58368" y="4846320"/>
            <a:ext cx="3539642" cy="731520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59536" y="4956048"/>
            <a:ext cx="31373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859536" y="5175504"/>
            <a:ext cx="3137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se construye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326026" y="4846320"/>
            <a:ext cx="3539642" cy="731520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27194" y="4956048"/>
            <a:ext cx="31373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4527194" y="5175504"/>
            <a:ext cx="3137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recorrido de diez semanas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7993685" y="4846320"/>
            <a:ext cx="3539642" cy="7315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194853" y="4956048"/>
            <a:ext cx="31373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8194853" y="5175504"/>
            <a:ext cx="3137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qué herramientas llegas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tpe401-taller-de-proyecto-de-especialidad\clases\semana-01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TPE401 · Taller de Proyecto de Especialidad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EL PERFIL DE EGRESO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Cada frase del perfil, una pregunta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82496"/>
            <a:ext cx="108749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perfil de egreso es el criterio con que se evalúa el examen. Un proyecto que responde que sí a estas preguntas lo muestra.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58368" y="2377440"/>
            <a:ext cx="350306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377440"/>
            <a:ext cx="3503066" cy="6400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77824" y="2560320"/>
            <a:ext cx="3100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i="1" dirty="0">
                <a:solidFill>
                  <a:srgbClr val="284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«análisis de requerimientos»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877824" y="2926080"/>
            <a:ext cx="310073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¿Se analizó qué necesita la organización?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4344314" y="2377440"/>
            <a:ext cx="350306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44314" y="2377440"/>
            <a:ext cx="3503066" cy="64008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63770" y="2560320"/>
            <a:ext cx="3100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i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«diseño»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4563770" y="2926080"/>
            <a:ext cx="310073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¿Hay un diseño del sistema?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8030261" y="2377440"/>
            <a:ext cx="350306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030261" y="2377440"/>
            <a:ext cx="3503066" cy="640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49717" y="2560320"/>
            <a:ext cx="3100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i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«construcción, pruebas»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8249717" y="2926080"/>
            <a:ext cx="310073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¿Se construyó y se probó?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658368" y="3913632"/>
            <a:ext cx="350306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8368" y="3913632"/>
            <a:ext cx="3503066" cy="64008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77824" y="4096512"/>
            <a:ext cx="3100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«implementación de soluciones»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877824" y="4462272"/>
            <a:ext cx="310073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¿Se instaló donde se va a usar?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4344314" y="3913632"/>
            <a:ext cx="350306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344314" y="3913632"/>
            <a:ext cx="3503066" cy="640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563770" y="4096512"/>
            <a:ext cx="3100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i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«soluciones informáticas seguras»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4563770" y="4462272"/>
            <a:ext cx="310073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¿Protege los datos y el acceso?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8030261" y="3913632"/>
            <a:ext cx="350306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030261" y="3913632"/>
            <a:ext cx="3503066" cy="640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249717" y="4096512"/>
            <a:ext cx="3100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i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«requerimientos del cliente»</a:t>
            </a:r>
            <a:endParaRPr lang="en-US" sz="1150" dirty="0"/>
          </a:p>
        </p:txBody>
      </p:sp>
      <p:sp>
        <p:nvSpPr>
          <p:cNvPr id="34" name="Text 31"/>
          <p:cNvSpPr txBox="1"/>
          <p:nvPr/>
        </p:nvSpPr>
        <p:spPr>
          <a:xfrm>
            <a:off x="8249717" y="4462272"/>
            <a:ext cx="310073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¿Responde a lo que pidió el cliente?</a:t>
            </a:r>
            <a:endParaRPr lang="en-US" sz="1700" dirty="0"/>
          </a:p>
        </p:txBody>
      </p:sp>
      <p:sp>
        <p:nvSpPr>
          <p:cNvPr id="35" name="Shape 32"/>
          <p:cNvSpPr/>
          <p:nvPr/>
        </p:nvSpPr>
        <p:spPr>
          <a:xfrm>
            <a:off x="658368" y="5596128"/>
            <a:ext cx="45720" cy="18288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04672" y="5586984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Frases del perfil profesional del Técnico de Nivel Superior en Programación y Análisis de Sistemas, malla de la carrera.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tpe401-taller-de-proyecto-de-especialidad\clases\semana-01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TPE401 · Taller de Proyecto de Especialidad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LO QUE TE DEJÓ CADA ASIGNATURA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semestres de herramientas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658368" y="1737360"/>
            <a:ext cx="3442106" cy="4023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41248" y="1773936"/>
            <a:ext cx="30763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1.er semestre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58368" y="2231136"/>
            <a:ext cx="344210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4672" y="2267712"/>
            <a:ext cx="31677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Fundamentos de Programación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04672" y="2487168"/>
            <a:ext cx="31677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lógica y estructuras de datos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" y="2798064"/>
            <a:ext cx="3442106" cy="512064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4672" y="2834640"/>
            <a:ext cx="31677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Introducción a Requerimientos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04672" y="3054096"/>
            <a:ext cx="31677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levantar requerimientos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58368" y="3364992"/>
            <a:ext cx="344210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04672" y="3401568"/>
            <a:ext cx="31677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Bases de Datos Relacionales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804672" y="3621024"/>
            <a:ext cx="31677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relacional y SQL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374794" y="1737360"/>
            <a:ext cx="3442106" cy="402336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57674" y="1773936"/>
            <a:ext cx="30763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2.º semestre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4374794" y="2231136"/>
            <a:ext cx="344210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521098" y="2267712"/>
            <a:ext cx="31677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Taller de Programación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4521098" y="2487168"/>
            <a:ext cx="31677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programas completos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374794" y="2798064"/>
            <a:ext cx="3442106" cy="512064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521098" y="2834640"/>
            <a:ext cx="31677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Taller de Bases de Datos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4521098" y="3054096"/>
            <a:ext cx="31677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base de datos para un caso real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374794" y="3364992"/>
            <a:ext cx="344210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521098" y="3401568"/>
            <a:ext cx="31677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Segura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4521098" y="3621024"/>
            <a:ext cx="31677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 y credenciales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4374794" y="3931920"/>
            <a:ext cx="3442106" cy="512064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521098" y="3968496"/>
            <a:ext cx="31677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Metodologías de Desarrollo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21098" y="4187952"/>
            <a:ext cx="31677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metodologías ágiles, historias de usuario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374794" y="4498848"/>
            <a:ext cx="344210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521098" y="4535424"/>
            <a:ext cx="31677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Herramientas para la Innovación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4521098" y="4754880"/>
            <a:ext cx="31677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generar y evaluar ideas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4374794" y="5065776"/>
            <a:ext cx="3442106" cy="512064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521098" y="5102352"/>
            <a:ext cx="31677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Herramientas de IA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4521098" y="5321808"/>
            <a:ext cx="31677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 generativa en el trabajo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8091221" y="1737360"/>
            <a:ext cx="3442106" cy="402336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74101" y="1773936"/>
            <a:ext cx="30763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3.er semestre</a:t>
            </a:r>
            <a:endParaRPr lang="en-US" sz="1350" dirty="0"/>
          </a:p>
        </p:txBody>
      </p:sp>
      <p:sp>
        <p:nvSpPr>
          <p:cNvPr id="43" name="Shape 40"/>
          <p:cNvSpPr/>
          <p:nvPr/>
        </p:nvSpPr>
        <p:spPr>
          <a:xfrm>
            <a:off x="8091221" y="2231136"/>
            <a:ext cx="344210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237525" y="2267712"/>
            <a:ext cx="31677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Taller de Aplicaciones para Internet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8237525" y="2487168"/>
            <a:ext cx="31677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aplicaciones web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8091221" y="2798064"/>
            <a:ext cx="3442106" cy="512064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8237525" y="2834640"/>
            <a:ext cx="31677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Modelamiento de Procesos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8237525" y="3054096"/>
            <a:ext cx="31677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mapas de proceso, BPMN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8091221" y="3364992"/>
            <a:ext cx="344210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237525" y="3401568"/>
            <a:ext cx="31677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Taller de Análisis de Sistemas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8237525" y="3621024"/>
            <a:ext cx="31677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casos de uso y diagramas de clases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8091221" y="3931920"/>
            <a:ext cx="3442106" cy="512064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8237525" y="3968496"/>
            <a:ext cx="31677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Certificado de Especialidad I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8237525" y="4187952"/>
            <a:ext cx="31677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en la nube (AWS)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8091221" y="4498848"/>
            <a:ext cx="344210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237525" y="4535424"/>
            <a:ext cx="31677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Sostenibilidad Organizacional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8237525" y="4754880"/>
            <a:ext cx="31677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soluciones que se sostienen</a:t>
            </a:r>
            <a:endParaRPr lang="en-US" sz="1050" dirty="0"/>
          </a:p>
        </p:txBody>
      </p:sp>
      <p:sp>
        <p:nvSpPr>
          <p:cNvPr id="58" name="Shape 55"/>
          <p:cNvSpPr/>
          <p:nvPr/>
        </p:nvSpPr>
        <p:spPr>
          <a:xfrm>
            <a:off x="658368" y="5705856"/>
            <a:ext cx="10874959" cy="49377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950976" y="5751576"/>
            <a:ext cx="10289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un punto de partida: súmale lo que sabes hacer por tu cuenta. Este semestre se agregan Móviles y Testing.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tpe401-taller-de-proyecto-de-especialidad\clases\semana-01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TPE401 · Taller de Proyecto de Especialidad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EL PRIMER PASO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hace bueno a un desafío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82496"/>
            <a:ext cx="108749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desafío es la necesidad real que va a resolver el proyecto. Venga de donde venga, un buen desafío cumple tres condiciones.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58368" y="2560320"/>
            <a:ext cx="58521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2706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1353312" y="26334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una necesidad real de una organización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353312" y="2926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Existe fuera de la sala y alguien la vive todos los días.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58368" y="3383280"/>
            <a:ext cx="58521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3529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1353312" y="34564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puede analizar con la información disponible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353312" y="3749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Caso, fuentes citadas y supuestos explícitos pendientes de validar.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58368" y="4206240"/>
            <a:ext cx="58521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" y="43525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1353312" y="42793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Deja ver las herramientas de la carrera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353312" y="4572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Requerimientos, base de datos, una aplicación, pruebas.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876288" y="2560320"/>
            <a:ext cx="4657039" cy="1133856"/>
          </a:xfrm>
          <a:prstGeom prst="rect">
            <a:avLst/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114032" y="2651760"/>
            <a:ext cx="4199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deja ver el perfil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7114032" y="2926080"/>
            <a:ext cx="4199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desafío que se resuelve con una planilla.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876288" y="3840480"/>
            <a:ext cx="4657039" cy="1133856"/>
          </a:xfrm>
          <a:prstGeom prst="rect">
            <a:avLst/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114032" y="3931920"/>
            <a:ext cx="4199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 deja ver el perfil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114032" y="4206240"/>
            <a:ext cx="419983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Uno que pide levantar requerimientos, diseñar una base de datos y construir una aplicación.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658368" y="5486400"/>
            <a:ext cx="10874959" cy="5303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50976" y="5532120"/>
            <a:ext cx="1028974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contacto inmediato no es condición para elegir el desafío ni para comenzar.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tpe401-taller-de-proyecto-de-especialidad\clases\semana-01\01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TPE401 · Taller de Proyecto de Especialidad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TRABAJO DEL EQUIPO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Avanzar mientras se gestiona el contacto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09344"/>
            <a:ext cx="1087495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puede comenzar y entregar sin contacto con la organización.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658368" y="2468880"/>
            <a:ext cx="64008" cy="7315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59536" y="24688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Ahora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950208" y="2468880"/>
            <a:ext cx="758311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Analizar el caso real que entrega el docente y las fuentes disponibles. Identificar y justificar los supuestos que permiten diseñar y desarrollar.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58368" y="3383280"/>
            <a:ext cx="64008" cy="731520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59536" y="33832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se habilita el contacto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3950208" y="3383280"/>
            <a:ext cx="758311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Conversar con la organización y contrastar los supuestos. Registrar qué se confirma, qué cambia y qué sigue pendiente.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658368" y="4297680"/>
            <a:ext cx="64008" cy="7315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59536" y="42976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Actualizar y entregar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3950208" y="4297680"/>
            <a:ext cx="758311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Reflejar los cambios en la propuesta y el software. Si no hay contacto, entregar lo desarrollado con evidencias y pendientes declarados.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658368" y="5632704"/>
            <a:ext cx="10874959" cy="5303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50976" y="5678424"/>
            <a:ext cx="1028974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Supuesto: afirmación provisional por comprobar. Las fechas de entrega se mantienen.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tpe401-taller-de-proyecto-de-especialidad\clases\semana-01\01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TPE401 · Taller de Proyecto de Especialidad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914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96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2618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ideas para llevarse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658368" y="2194560"/>
            <a:ext cx="3503066" cy="2194560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2194560"/>
            <a:ext cx="3503066" cy="640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2395728"/>
            <a:ext cx="299100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 construye un sistema para alguien real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566160"/>
            <a:ext cx="299100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recorriendo el ciclo completo: del descubrimiento a la puesta en marcha.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344314" y="2194560"/>
            <a:ext cx="3503066" cy="2194560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344314" y="2194560"/>
            <a:ext cx="3503066" cy="640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600346" y="2395728"/>
            <a:ext cx="299100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propuesta es ese mismo desarrollo escrito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4600346" y="3566160"/>
            <a:ext cx="299100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lo que dice tiene que poder verse en el sistema.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030261" y="2194560"/>
            <a:ext cx="3503066" cy="2194560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30261" y="2194560"/>
            <a:ext cx="3503066" cy="64008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86293" y="2395728"/>
            <a:ext cx="299100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Cada entrega se apoya en la anterior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8286293" y="3566160"/>
            <a:ext cx="299100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el examen presenta el proyecto completo ante quien podría decidir hacerlo.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58368" y="4754880"/>
            <a:ext cx="1751533" cy="384048"/>
          </a:xfrm>
          <a:prstGeom prst="rect">
            <a:avLst/>
          </a:prstGeom>
          <a:solidFill>
            <a:srgbClr val="D6202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13232" y="4773168"/>
            <a:ext cx="164180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Descubrimiento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2483053" y="4754880"/>
            <a:ext cx="1751533" cy="384048"/>
          </a:xfrm>
          <a:prstGeom prst="rect">
            <a:avLst/>
          </a:prstGeom>
          <a:solidFill>
            <a:srgbClr val="284B75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537917" y="4773168"/>
            <a:ext cx="164180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307738" y="4754880"/>
            <a:ext cx="1751533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362602" y="4773168"/>
            <a:ext cx="164180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Planificación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132424" y="4754880"/>
            <a:ext cx="1751533" cy="384048"/>
          </a:xfrm>
          <a:prstGeom prst="rect">
            <a:avLst/>
          </a:prstGeom>
          <a:solidFill>
            <a:srgbClr val="3FAE6A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187288" y="4773168"/>
            <a:ext cx="164180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957109" y="4754880"/>
            <a:ext cx="1751533" cy="384048"/>
          </a:xfrm>
          <a:prstGeom prst="rect">
            <a:avLst/>
          </a:prstGeom>
          <a:solidFill>
            <a:srgbClr val="102A43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011973" y="4773168"/>
            <a:ext cx="164180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Construcción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9781794" y="4754880"/>
            <a:ext cx="1751533" cy="384048"/>
          </a:xfrm>
          <a:prstGeom prst="rect">
            <a:avLst/>
          </a:prstGeom>
          <a:solidFill>
            <a:srgbClr val="52606D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836658" y="4773168"/>
            <a:ext cx="164180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Puesta en marcha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658368" y="5358384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sigue: definir el desafío de cada proyecto.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AIEP Osorno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 software para alguien real</dc:title>
  <dc:subject>TPE401 · Clase 01</dc:subject>
  <dc:creator>Diego Obando</dc:creator>
  <cp:lastModifiedBy>Diego Obando</cp:lastModifiedBy>
  <cp:revision>1</cp:revision>
  <dcterms:created xsi:type="dcterms:W3CDTF">2026-10-13T01:27:51Z</dcterms:created>
  <dcterms:modified xsi:type="dcterms:W3CDTF">2026-10-13T01:27:51Z</dcterms:modified>
</cp:coreProperties>
</file>